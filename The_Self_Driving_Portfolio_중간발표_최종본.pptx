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93C5FD"/>
                </a:solidFill>
                <a:latin typeface="Malgun Gothic"/>
              </a:rPr>
              <a:t>중간발표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</a:rPr>
              <a:t>The Self-Driving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2E8F0"/>
                </a:solidFill>
                <a:latin typeface="Malgun Gothic"/>
              </a:rPr>
              <a:t>멀티 에이전트 기반 기관 전략적 자산배분(SAA) 시스템 구현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1097280" cy="2743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Malgun Gothic"/>
              </a:rPr>
              <a:t>Base Paper  |  Andrew Ang, Nazym Azimbayev, Andrey Kim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3C5FD"/>
                </a:solidFill>
                <a:latin typeface="Malgun Gothic"/>
              </a:rPr>
              <a:t>Live Demo   |  self-driving-portfolio.onrender.com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0052CC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7830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51C2C"/>
                </a:solidFill>
                <a:latin typeface="Malgun Gothic"/>
              </a:rPr>
              <a:t>논문 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2860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기관 SAA의 구조적 한계 · 6단계 파이프라인 · 4대 설계 원칙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743200"/>
            <a:ext cx="8686800" cy="9144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0052CC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92607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51C2C"/>
                </a:solidFill>
                <a:latin typeface="Malgun Gothic"/>
              </a:rPr>
              <a:t>주제 선정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4290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시의성 · 실무성 · 구현 가능성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3886200"/>
            <a:ext cx="8686800" cy="9144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0052CC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0690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51C2C"/>
                </a:solidFill>
                <a:latin typeface="Malgun Gothic"/>
              </a:rPr>
              <a:t>웹 시스템 구현 및 실화면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5720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메인 대시보드 · 자산 배분 · 18개 ETF 포트폴리오 · 보르다 투표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5029200"/>
            <a:ext cx="8686800" cy="9144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6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0052CC"/>
                </a:solidFill>
                <a:latin typeface="Malgun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2120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51C2C"/>
                </a:solidFill>
                <a:latin typeface="Malgun Gothic"/>
              </a:rPr>
              <a:t>중간 성과 및 향후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7150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진행 현황 · 주요 이슈 · 기말까지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01  논문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기관 SAA의 구조적 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633472" cy="31089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91C1C"/>
                </a:solidFill>
                <a:latin typeface="Malgun Gothic"/>
              </a:rPr>
              <a:t>연 1회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경직된 주기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시장 국면 변화 대응 지연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형식적 재검토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645920"/>
            <a:ext cx="2633472" cy="31089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874519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91C1C"/>
                </a:solidFill>
                <a:latin typeface="Malgun Gothic"/>
              </a:rPr>
              <a:t>사일로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560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부서 간 단절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1089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부서별 전제 불일치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수작업 취합 비용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645920"/>
            <a:ext cx="2633472" cy="31089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874519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91C1C"/>
                </a:solidFill>
                <a:latin typeface="Malgun Gothic"/>
              </a:rPr>
              <a:t>사후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60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리스크 통제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1089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확정 후 리스크 검토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수정 비용 과다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1645920"/>
            <a:ext cx="2633472" cy="31089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1874519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91C1C"/>
                </a:solidFill>
                <a:latin typeface="Malgun Gothic"/>
              </a:rPr>
              <a:t>기록 부재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560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감사 추적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31089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조정 사유 불투명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재현 · 검증 곤란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74920"/>
            <a:ext cx="11091672" cy="9601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10515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논문 제안  →  약 50개 AI 에이전트가 SAA 전 과정을 분업 · 상호 검증 · 감사 기록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01  논문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6단계 에이전트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828800"/>
            <a:ext cx="1965960" cy="1188720"/>
          </a:xfrm>
          <a:prstGeom prst="homePlat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거시 국면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0052CC"/>
                </a:solidFill>
                <a:latin typeface="Malgun Gothic"/>
              </a:rPr>
              <a:t>Macro 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후기 사이클 진단</a:t>
            </a:r>
          </a:p>
        </p:txBody>
      </p:sp>
      <p:sp>
        <p:nvSpPr>
          <p:cNvPr id="12" name="Chevron 11"/>
          <p:cNvSpPr/>
          <p:nvPr/>
        </p:nvSpPr>
        <p:spPr>
          <a:xfrm>
            <a:off x="2404872" y="1828800"/>
            <a:ext cx="1965960" cy="1188720"/>
          </a:xfrm>
          <a:prstGeom prst="chevron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912" y="182880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자산군 CMA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37033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0052CC"/>
                </a:solidFill>
                <a:latin typeface="Malgun Gothic"/>
              </a:rPr>
              <a:t>CMA (18)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18개 자산 10년 예측</a:t>
            </a:r>
          </a:p>
        </p:txBody>
      </p:sp>
      <p:sp>
        <p:nvSpPr>
          <p:cNvPr id="17" name="Chevron 16"/>
          <p:cNvSpPr/>
          <p:nvPr/>
        </p:nvSpPr>
        <p:spPr>
          <a:xfrm>
            <a:off x="4261103" y="1828800"/>
            <a:ext cx="1965960" cy="1188720"/>
          </a:xfrm>
          <a:prstGeom prst="chevron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3" y="182880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3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공분산 행렬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1103" y="37033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0052CC"/>
                </a:solidFill>
                <a:latin typeface="Malgun Gothic"/>
              </a:rPr>
              <a:t>Covariance (1)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3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Ledoit-Wolf / OAS 수축</a:t>
            </a:r>
          </a:p>
        </p:txBody>
      </p:sp>
      <p:sp>
        <p:nvSpPr>
          <p:cNvPr id="22" name="Chevron 21"/>
          <p:cNvSpPr/>
          <p:nvPr/>
        </p:nvSpPr>
        <p:spPr>
          <a:xfrm>
            <a:off x="6117336" y="1828800"/>
            <a:ext cx="1965960" cy="1188720"/>
          </a:xfrm>
          <a:prstGeom prst="chevron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5" y="182880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7336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포트폴리오 구성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7336" y="37033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0052CC"/>
                </a:solidFill>
                <a:latin typeface="Malgun Gothic"/>
              </a:rPr>
              <a:t>PC (21)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7336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21개 최적화 모델 경쟁</a:t>
            </a:r>
          </a:p>
        </p:txBody>
      </p:sp>
      <p:sp>
        <p:nvSpPr>
          <p:cNvPr id="27" name="Chevron 26"/>
          <p:cNvSpPr/>
          <p:nvPr/>
        </p:nvSpPr>
        <p:spPr>
          <a:xfrm>
            <a:off x="7973567" y="1828800"/>
            <a:ext cx="1965960" cy="1188720"/>
          </a:xfrm>
          <a:prstGeom prst="chevron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7" y="182880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7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전략 심의 · 투표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7" y="37033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0052CC"/>
                </a:solidFill>
                <a:latin typeface="Malgun Gothic"/>
              </a:rPr>
              <a:t>CRO + 21 심사역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7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수정 보르다 카운트 투표</a:t>
            </a:r>
          </a:p>
        </p:txBody>
      </p:sp>
      <p:sp>
        <p:nvSpPr>
          <p:cNvPr id="32" name="Chevron 31"/>
          <p:cNvSpPr/>
          <p:nvPr/>
        </p:nvSpPr>
        <p:spPr>
          <a:xfrm>
            <a:off x="9829799" y="1828800"/>
            <a:ext cx="1965960" cy="1188720"/>
          </a:xfrm>
          <a:prstGeom prst="chevron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39" y="182880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799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최종 앙상블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799" y="37033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0052CC"/>
                </a:solidFill>
                <a:latin typeface="Malgun Gothic"/>
              </a:rPr>
              <a:t>CIO (1)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799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역추적오차(TE) 결합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800600"/>
            <a:ext cx="3749039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05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80060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52CC"/>
                </a:solidFill>
                <a:latin typeface="Malgun Gothic"/>
              </a:rPr>
              <a:t>↺  CRO IPS 위반 시 4단계 재최적화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입력: 18개 자산군 시계열 · 거시지표   |   출력: 최종 SAA 비중 · 이사회 메모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01  논문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4대 설계 원칙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33472" cy="35661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52CC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전문화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Specialization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57600"/>
            <a:ext cx="548640" cy="182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거시 · 자산군 · 최적화 · 리스크 에이전트 분업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737360"/>
            <a:ext cx="2633472" cy="35661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201168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52CC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6060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도구 결정론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32004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Tool Determinism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93592" y="3657600"/>
            <a:ext cx="548640" cy="182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384048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LLM = 정성적 해석 · 토론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Python = 수학 행렬 계산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737360"/>
            <a:ext cx="2633472" cy="35661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01168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52CC"/>
                </a:solidFill>
                <a:latin typeface="Malgun Gothi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6060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적대적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2004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Adversarial Critique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9944" y="3657600"/>
            <a:ext cx="548640" cy="182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84048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CRO 거부권(Veto) → 미달 시 배제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97696" y="1737360"/>
            <a:ext cx="2633472" cy="35661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6296" y="201168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52CC"/>
                </a:solidFill>
                <a:latin typeface="Malgun Gothi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26060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감사 추적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32004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Audit Trail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26296" y="3657600"/>
            <a:ext cx="548640" cy="182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6296" y="384048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보르다 투표 · 소수의견 · 조정 사유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핵심  →  LLM 수치 환각 차단 (Tool Determinism) + 의사결정 투명성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02  주제 선정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왜 이 논문인가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566160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356616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31638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51C2C"/>
                </a:solidFill>
                <a:latin typeface="Malgun Gothic"/>
              </a:rPr>
              <a:t>시의성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23160"/>
            <a:ext cx="3163824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2026년 4월 최신 연구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Agentic AI × 자산운용 접목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기관 도입 초기 단계 탐색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645920"/>
            <a:ext cx="3566160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645920"/>
            <a:ext cx="356616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1874519"/>
            <a:ext cx="31638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51C2C"/>
                </a:solidFill>
                <a:latin typeface="Malgun Gothic"/>
              </a:rPr>
              <a:t>실무성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423160"/>
            <a:ext cx="3163824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연기금 · 국부펀드 실제 SAA 구조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위원회 · IPS 규정 등 거버넌스 반영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금융공학 이론과 실무의 결합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645920"/>
            <a:ext cx="3566160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645920"/>
            <a:ext cx="356616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874519"/>
            <a:ext cx="31638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51C2C"/>
                </a:solidFill>
                <a:latin typeface="Malgun Gothic"/>
              </a:rPr>
              <a:t>구현 가능성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23160"/>
            <a:ext cx="3163824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명확한 수식 (OAS · BL · CVaR)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18개 ETF 실제 데이터로 재현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웹 시연으로 즉시 검증 가능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11091672" cy="82296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4632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목표  →  논문의 50개 에이전트 구조를 실제 작동하는 웹 시스템으로 재현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03  웹 시스템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시스템 아키텍처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468880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46888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65960"/>
            <a:ext cx="2066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51C2C"/>
                </a:solidFill>
                <a:latin typeface="Malgun Gothic"/>
              </a:rPr>
              <a:t>데이터 계층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14600"/>
            <a:ext cx="2066544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·  18개 ETF 월간 수익률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·  거시지표 (성장·물가·금리)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·  야후 파이낸스 실데이터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7432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052CC"/>
                </a:solidFill>
                <a:latin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9856" y="1737360"/>
            <a:ext cx="2468880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9856" y="1737360"/>
            <a:ext cx="2468880" cy="5486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1965960"/>
            <a:ext cx="2066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51C2C"/>
                </a:solidFill>
                <a:latin typeface="Malgun Gothic"/>
              </a:rPr>
              <a:t>수리 엔진 (백엔드)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514600"/>
            <a:ext cx="2066544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·  Python · FastAPI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·  6단계 파이프라인 오케스트레이션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·  NumPy · SciPy 결정론적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4" y="27432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052CC"/>
                </a:solidFill>
                <a:latin typeface="Malgun 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1737360"/>
            <a:ext cx="2468880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1737360"/>
            <a:ext cx="246888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2066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51C2C"/>
                </a:solidFill>
                <a:latin typeface="Malgun Gothic"/>
              </a:rPr>
              <a:t>대시보드 (프론트엔드)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14600"/>
            <a:ext cx="2066544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·  React · TypeScript · Tailwind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·  자산배분 · 투표 · 성과 진단 탭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·  IPS 실시간 재실행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7432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052CC"/>
                </a:solidFill>
                <a:latin typeface="Malgun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62288" y="1737360"/>
            <a:ext cx="2468880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62288" y="1737360"/>
            <a:ext cx="246888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3456" y="1965960"/>
            <a:ext cx="2066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51C2C"/>
                </a:solidFill>
                <a:latin typeface="Malgun Gothic"/>
              </a:rPr>
              <a:t>배포 및 인프라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514600"/>
            <a:ext cx="2066544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·  Docker 멀티 스테이지 빌드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·  Render 클라우드 24/7 서비스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475569"/>
                </a:solidFill>
                <a:latin typeface="Malgun Gothic"/>
              </a:rPr>
              <a:t>·  GitHub CI/CD 연동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51C2C"/>
                </a:solidFill>
                <a:latin typeface="Malgun Gothic"/>
              </a:rPr>
              <a:t>핵심 구현 원칙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수치 계산: 결정론적 코드 (NumPy/SciPy, 재현 가능, 환각 0%)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해설 및 토론: LLM 하이브리드 모드 (API 키 없이도 시뮬레이션 지원)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03  웹 시스템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메인 대시보드 및 6단계 파이프라인 (실화면)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840480" cy="4572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84048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34381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51C2C"/>
                </a:solidFill>
                <a:latin typeface="Malgun Gothic"/>
              </a:rPr>
              <a:t>화면 구성 및 핵심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40280"/>
            <a:ext cx="3438144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거버넌스 L3: 조건부 자율 SAA 운용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IPS 적격 심사: 21개 후보 중 2개만 통과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예상 명목수익률: 5.75% (실질 +3.3%)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사전 연간변동성: 8.85% (밴드 8~12% 충족)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샤프 지수: 0.231 (vs 60/40 0.219 대비 우수)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예상 최대낙폭: -18.59% (하방 방어력 우수)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트래킹 에러: 0.77% (한도 &lt; 6% 준수)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유효 자산수: 10.2개 (다변화 확보)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4" y="1426464"/>
            <a:ext cx="7022592" cy="4645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dia_17918890369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63040"/>
            <a:ext cx="6949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03  웹 시스템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대자산군 배분 및 60/40 벤치마크 비교 (실화면)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840480" cy="4572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84048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34381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51C2C"/>
                </a:solidFill>
                <a:latin typeface="Malgun Gothic"/>
              </a:rPr>
              <a:t>자산 배분 및 벤치마크 진단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40280"/>
            <a:ext cx="3438144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주식군 (Equity): 56.49%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채권군 (Fixed Income): 40.71%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실물자산 (Real Assets): 1.65%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현금 버퍼 (Cash): 1.17%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스태그플레이션 방어: 주식 언더웨이트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채권 듀레이션 및 현금 버퍼 확보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최대 낙폭 개선: -34.3% → -18.59%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사전 트래킹 에러: 0.77% (IPS 한도 준수)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4" y="1426464"/>
            <a:ext cx="7022592" cy="4645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dia_17918890948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63040"/>
            <a:ext cx="6949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03  웹 시스템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18개 자산군별 최종 권고 비중 (Exhibit 11)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840480" cy="4572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84048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34381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51C2C"/>
                </a:solidFill>
                <a:latin typeface="Malgun Gothic"/>
              </a:rPr>
              <a:t>포트폴리오 비중 특징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40280"/>
            <a:ext cx="3438144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미국 대형주 (SPY): 28.56% (위험 기여 45.2%)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미국 중기국채 (IEF): 16.57% (핵심 안전판)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미국 성장주/가치주 (VUG/VTV): 각 9.41%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미국 중소형주 (IWM): 5.59%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미국 단기/장기국채 (SHY/TLT): 각 5.09%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투자등급 회사채 (LQD): 5.09%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해외 국채 (BNDX): 3.56%  |  HYG: 2.79%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선진국/신흥국 주식 (EFA/EEM): 각 1.76%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4" y="1426464"/>
            <a:ext cx="7022592" cy="4645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dia_17918891063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63040"/>
            <a:ext cx="6949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03  웹 시스템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전략 심의: 수정 보르다 투표 결과 (Exhibit 9)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840480" cy="4572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84048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34381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51C2C"/>
                </a:solidFill>
                <a:latin typeface="Malgun Gothic"/>
              </a:rPr>
              <a:t>투표 결과 및 적격 심사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40280"/>
            <a:ext cx="3438144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종합 점수: 동료 투표 55% + CRO 정량 45%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1위 최대 분산 (변동성 2.7% → 8% 미달 탈락)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2위 블랙-리터만 (변동성 6.9% → 미달 탈락)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3위 위험균형 (변동성 6.5% → 미달 탈락)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4위 TPA (변동성 8.3% → IPS 적격 통과)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6위 시가총액 가중 (변동성 9.2% → 적격 통과)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적대적 분산 에이전트: 반대 관점 제기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·  결론: 적격 통과한 2개 모델만 앙상블 결합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4" y="1426464"/>
            <a:ext cx="7022592" cy="4645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dia_17918891226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63040"/>
            <a:ext cx="6949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04 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현재 이슈 및 검토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633472" cy="39319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633472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22311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51C2C"/>
                </a:solidFill>
                <a:latin typeface="Malgun Gothic"/>
              </a:rPr>
              <a:t>IPS 변동성 밴드 재검토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23160"/>
            <a:ext cx="2231136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기본 변동성 밴드 [8~12%]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21개 모델 중 적격 2개뿐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→ 저변동성 우수 모델 배제 완화 검토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645920"/>
            <a:ext cx="2633472" cy="39319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645920"/>
            <a:ext cx="2633472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22311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51C2C"/>
                </a:solidFill>
                <a:latin typeface="Malgun Gothic"/>
              </a:rPr>
              <a:t>데이터 연속성 및 확장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60"/>
            <a:ext cx="2231136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현재: 18개 ETF 월간 수익률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거시지표 주기 동기화 필요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→ 실시간 FRED API 연동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645920"/>
            <a:ext cx="2633472" cy="39319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45920"/>
            <a:ext cx="2633472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874519"/>
            <a:ext cx="22311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51C2C"/>
                </a:solidFill>
                <a:latin typeface="Malgun Gothic"/>
              </a:rPr>
              <a:t>LLM 실 API 추론 평가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423160"/>
            <a:ext cx="2231136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현재: 시뮬레이션 + 템플릿 결합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실제 LLM 호출 시 비용·지연 발생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→ 핵심 에이전트 선별 호출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1645920"/>
            <a:ext cx="2633472" cy="39319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97696" y="1645920"/>
            <a:ext cx="2633472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8864" y="1874519"/>
            <a:ext cx="22311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51C2C"/>
                </a:solidFill>
                <a:latin typeface="Malgun Gothic"/>
              </a:rPr>
              <a:t>백테스트 강건성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2423160"/>
            <a:ext cx="2231136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단일 기간(2013-2026) 검증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거래비용·슬리피지 미반영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→ 서브 구간별 안정성 검증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04 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기말까지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10607040" cy="3657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4630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1C2C"/>
                </a:solidFill>
                <a:latin typeface="Malgun Gothic"/>
              </a:rPr>
              <a:t>1~2주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1984248"/>
            <a:ext cx="365760" cy="36576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2633472" cy="27432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통합 및 안정화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팀원 PR 병합 완료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IPS 밴드 파라미터 튜닝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배포 도메인 단일화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15087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4630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1C2C"/>
                </a:solidFill>
                <a:latin typeface="Malgun Gothic"/>
              </a:rPr>
              <a:t>3~4주</a:t>
            </a:r>
          </a:p>
        </p:txBody>
      </p:sp>
      <p:sp>
        <p:nvSpPr>
          <p:cNvPr id="16" name="Oval 15"/>
          <p:cNvSpPr/>
          <p:nvPr/>
        </p:nvSpPr>
        <p:spPr>
          <a:xfrm>
            <a:off x="3593592" y="1984248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2651760"/>
            <a:ext cx="2633472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데이터 고도화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356616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FRED 거시지표 API 연동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18개 ETF 공분산 재추정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자산 유니버스 확장 검토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15087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14630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1C2C"/>
                </a:solidFill>
                <a:latin typeface="Malgun Gothic"/>
              </a:rPr>
              <a:t>5~6주</a:t>
            </a:r>
          </a:p>
        </p:txBody>
      </p:sp>
      <p:sp>
        <p:nvSpPr>
          <p:cNvPr id="22" name="Oval 21"/>
          <p:cNvSpPr/>
          <p:nvPr/>
        </p:nvSpPr>
        <p:spPr>
          <a:xfrm>
            <a:off x="6409944" y="1984248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2651760"/>
            <a:ext cx="2633472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LLM 실연동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56616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거시 · CIO 실 API 연동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에이전트 추론 정성 평가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시뮬레이션 모드와 비교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15087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4976" y="14630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1C2C"/>
                </a:solidFill>
                <a:latin typeface="Malgun Gothic"/>
              </a:rPr>
              <a:t>7~8주</a:t>
            </a:r>
          </a:p>
        </p:txBody>
      </p:sp>
      <p:sp>
        <p:nvSpPr>
          <p:cNvPr id="28" name="Oval 27"/>
          <p:cNvSpPr/>
          <p:nvPr/>
        </p:nvSpPr>
        <p:spPr>
          <a:xfrm>
            <a:off x="9226296" y="1984248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97696" y="2651760"/>
            <a:ext cx="2633472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6296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최종 검증 및 보고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356616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거래비용 반영 백테스트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60/40 · 동일가중 심층 비교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기말 보고서 및 발표 준비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algun Gothic"/>
              </a:rPr>
              <a:t>※ 주차는 중간발표 이후 기준 일정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04 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기말 목표 산출물 및 결언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44068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13716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완성형 자율 SAA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실데이터 · 실 API 연동 및 고도화 완료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45920"/>
            <a:ext cx="544068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73152" cy="13716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24/7 글로벌 라이브 데모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Render 클라우드 상시 운영 (onrender.com)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544068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46120"/>
            <a:ext cx="73152" cy="13716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2043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심층 실증 분석 보고서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2335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시장 국면별 백테스트 및 벤치마크 대비 우수성 입증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246120"/>
            <a:ext cx="544068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246120"/>
            <a:ext cx="73152" cy="13716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52043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코드베이스 및 문서화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02335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GitHub 저장소 완비 및 상세 아키텍처 가이드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120640"/>
            <a:ext cx="11091672" cy="100584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109167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