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THE SELF-DRIVING PORTFOLIO</a:t>
            </a:r>
          </a:p>
          <a:p>
            <a:pPr>
              <a:spcAft>
                <a:spcPts val="2400"/>
              </a:spcAft>
              <a:defRPr sz="1800" b="1">
                <a:solidFill>
                  <a:srgbClr val="93C5FD"/>
                </a:solidFill>
                <a:latin typeface="Malgun Gothic"/>
              </a:defRPr>
            </a:pPr>
            <a:r>
              <a:t>기관 자산운용을 위한 멀티 에이전트 SAA 아키텍처 구현 및 클라우드 배포 / 실데이터 백테스트</a:t>
            </a:r>
          </a:p>
          <a:p>
            <a:pPr>
              <a:spcAft>
                <a:spcPts val="3000"/>
              </a:spcAft>
              <a:defRPr sz="1100">
                <a:solidFill>
                  <a:srgbClr val="E2E8F0"/>
                </a:solidFill>
                <a:latin typeface="Malgun Gothic"/>
              </a:defRPr>
            </a:pPr>
            <a:r>
              <a:t>기반 논문: The Self-Driving Portfolio (Andrew Ang, Nazym Azimbayev, Andrey Kim, 2026)</a:t>
            </a:r>
            <a:br/>
            <a:r>
              <a:t>구현 범위: 이론 구현 • 수리적 결정론 엔진 • React/FastAPI 대시보드 • 24시간 Render 클라우드 배포 • 159개월 실데이터 백테스트</a:t>
            </a:r>
          </a:p>
          <a:p>
            <a:pPr>
              <a:defRPr sz="1000">
                <a:solidFill>
                  <a:srgbClr val="94A3B8"/>
                </a:solidFill>
                <a:latin typeface="Malgun Gothic"/>
              </a:defRPr>
            </a:pPr>
            <a:r>
              <a:t>발표자: 자산배분 AI 프로젝트 팀  |  저장소: github.com/Placer-BAE/self-driving-portfolio  |  라이브 데모: self-driving-portfolio.onrender.com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EXECUTIVE SUMMARY  |  핵심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기관 투자자를 위한 자율주행 포트폴리오 4대 핵심 축 완성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6517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286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1. 논문 아키텍처 수리 구현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13인 에이전트 6단계 파이프라인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거시 레짐 진단부터 CIO 최종 이사회 메모까지 6단계 완결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OAS 수축 공분산 및 Black-Litterman 베이지안 최적화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몬테카를로 10,000회 시뮬레이션 기반 95% CVaR 리스크 검증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12인 위원회 정족수 투표 및 거버넌스 기록 보존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280160"/>
            <a:ext cx="26517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463040"/>
            <a:ext cx="2286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2. 인터랙티브 웹 대시보드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FastAPI + React 19 풀스택 구축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12개 자산군 비중 비교, 리스크 지표, 상관계수 히트맵 시각화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사용자 정의 IPS 슬라이더 실시간 변경 및 재최적화 연동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CRO 에이전트 한도 초과 감지 시 거부권(Veto) 루프 실시간 발동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완전한 감사 추적(Audit Trail) 및 한국어 심의 보고서 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80160"/>
            <a:ext cx="2651760" cy="3931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463040"/>
            <a:ext cx="2286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3. 24시간 글로벌 클라우드 배포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Docker + Render 인프라 안착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로컬 PC 의존성 완전 탈피 및 단일 엔드포인트 컨테이너화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공식 라이브 URL: self-driving-portfolio.onrender.com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모바일/외부망 어디서나 24시간 끊김 없는 라이브 시연 지원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GitHub 원격 저장소 푸시 시 자동 무중단 재배포 체계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280160"/>
            <a:ext cx="2651760" cy="3931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463040"/>
            <a:ext cx="22860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4. 15년 실데이터 백테스트 (Phase 3)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Yahoo Finance 18개 ETF 실증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2013-07 ~ 2026-09 (159개월) 실제 분기 리밸런싱 검증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최종 SAA vs 21개 후보 vs 전통 60/40 실증 성과 비교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전통 60/40 대비 우수한 위험조정수익률 및 안정적 낙폭 확인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낙폭 추이, 연도별 수익률, ETF 원자료 표 다운로드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26517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458968"/>
            <a:ext cx="265176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에이전트 구성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51C2C"/>
                </a:solidFill>
                <a:latin typeface="Malgun Gothic"/>
              </a:defRPr>
            </a:pPr>
            <a:r>
              <a:t>13개 전문 에이전트</a:t>
            </a:r>
          </a:p>
          <a:p>
            <a:pPr algn="ctr">
              <a:defRPr sz="900">
                <a:solidFill>
                  <a:srgbClr val="334155"/>
                </a:solidFill>
                <a:latin typeface="Malgun Gothic"/>
              </a:defRPr>
            </a:pPr>
            <a:r>
              <a:t>거시/자산군/PC/CRO/CIO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2" y="5349240"/>
            <a:ext cx="26517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64992" y="5458968"/>
            <a:ext cx="265176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자산군 커버리지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51C2C"/>
                </a:solidFill>
                <a:latin typeface="Malgun Gothic"/>
              </a:defRPr>
            </a:pPr>
            <a:r>
              <a:t>12대 글로벌 자산</a:t>
            </a:r>
          </a:p>
          <a:p>
            <a:pPr algn="ctr">
              <a:defRPr sz="900">
                <a:solidFill>
                  <a:srgbClr val="334155"/>
                </a:solidFill>
                <a:latin typeface="Malgun Gothic"/>
              </a:defRPr>
            </a:pPr>
            <a:r>
              <a:t>주식/금리/크레딧/대체자산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1344" y="5349240"/>
            <a:ext cx="265176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81344" y="5458968"/>
            <a:ext cx="265176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실증 백테스트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052CC"/>
                </a:solidFill>
                <a:latin typeface="Malgun Gothic"/>
              </a:defRPr>
            </a:pPr>
            <a:r>
              <a:t>159개월 실데이터</a:t>
            </a:r>
          </a:p>
          <a:p>
            <a:pPr algn="ctr">
              <a:defRPr sz="900">
                <a:solidFill>
                  <a:srgbClr val="334155"/>
                </a:solidFill>
                <a:latin typeface="Malgun Gothic"/>
              </a:defRPr>
            </a:pPr>
            <a:r>
              <a:t>2013-2026 Yahoo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97696" y="5349240"/>
            <a:ext cx="265176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97696" y="5458968"/>
            <a:ext cx="265176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배포 가동률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052CC"/>
                </a:solidFill>
                <a:latin typeface="Malgun Gothic"/>
              </a:defRPr>
            </a:pPr>
            <a:r>
              <a:t>24/7 Global Live</a:t>
            </a:r>
          </a:p>
          <a:p>
            <a:pPr algn="ctr">
              <a:defRPr sz="900">
                <a:solidFill>
                  <a:srgbClr val="334155"/>
                </a:solidFill>
                <a:latin typeface="Malgun Gothic"/>
              </a:defRPr>
            </a:pPr>
            <a:r>
              <a:t>Render Cloud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PROBLEM &amp; MOTIVATION  |  도입 배경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전통 기관 SAA의 구조적 한계와 Agentic AI 도입 필요성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9377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전통 기관 SAA 프로세스의 한계</a:t>
            </a:r>
            <a:r>
              <a:rPr sz="950" b="1">
                <a:solidFill>
                  <a:srgbClr val="0052CC"/>
                </a:solidFill>
              </a:rPr>
              <a:t>  [기존 운용 한계]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비효율적 연간 주기 및 부서 간 사일로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경직된 의사결정 주기: 연 1회 형식적 SAA 수립으로 급변하는 매크로 충격 대응 불가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조직 내 사일로(Silo): 거시 리서치, 운용팀, 리스크관리팀 간 분석 전제 및 뷰 불일치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사후적 리스크 통제: 포트폴리오 산출 후 리스크 검토 진행으로 수정 비용 과다 발생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감사 추적 미흡: 정량 모델 수치와 최종 배분안 간의 주관적 조정 사유 기록 부재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LLM 단일 에이전트 적용 시 한계: 복잡한 수학 최적화 및 행렬 연산에서 치명적 환각(Hallucination) 발생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Ang et al. (2026) 멀티 에이전트 해결책</a:t>
            </a:r>
            <a:r>
              <a:rPr sz="950" b="1">
                <a:solidFill>
                  <a:srgbClr val="0052CC"/>
                </a:solidFill>
              </a:rPr>
              <a:t>  [자율주행 아키텍처]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분업화 • 도구 결정론 • 거버넌스 투명성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전문성 분리(Specialization): 13개 에이전트가 각자 도메인(거시/CMA/공분산/최적화/리스크) 전담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도구 결정론(Tool Determinism): LLM은 정성적 토론 전담, 수학 계산은 Python 수리 엔진 전담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적대적 크리틱 루프(Adversarial Loop): CRO 에이전트가 IPS 위반 감지 시 즉시 거부권(Veto) 발동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12인 위원회 정족수 투표: 1인 1표 정족수 표결 및 소수의견(Dissent) 공식 기록 보존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완전 자율주행 체계: 시장 데이터 수집부터 이사회 메모 작성까지 원스톱 프로세스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SYSTEM ARCHITECTURE  |  시스템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논문 기반 6단계 멀티 에이전트 SAA 순차 협업 파이프라인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7373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371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Stage 1: 거시경제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Macro Agent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성장률, 인플레, 금리 데이터 분석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거시 경제 국면(Regime) 판정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끈적한 인플레 연착륙(Soft Landing) 도출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4016" y="1280160"/>
            <a:ext cx="17373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96896" y="1463040"/>
            <a:ext cx="1371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Stage 2: 자산군 &amp; 공분산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CMA &amp; Covariance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주식/금리/크레딧 10년 CMA 예측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EWMA(반감기 60M) 표본 공분산 계산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OAS 수축 기법 적용 (alpha=0.18)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280160"/>
            <a:ext cx="17373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463040"/>
            <a:ext cx="1371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Stage 3: 포트폴리오 구성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PC Agents (3 철학)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PC 1: 시가총액 비례 (Market-Cap)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PC 2: 평균-분산 최적화 (Mean-Variance)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PC 3: 블랙-리터만 모델 (Black-Litterman)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280160"/>
            <a:ext cx="173736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463040"/>
            <a:ext cx="1371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Stage 4: 리스크 검증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CRO Agent (Veto)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몬테카를로 10,000회 시뮬레이션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95% CVaR 및 최대낙폭(MDD) 산출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IPS 한도 초과 시 거부 및 재최적화 강제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280160"/>
            <a:ext cx="173736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463040"/>
            <a:ext cx="1371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Stage 5: 투자위원회 심의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12-Person Voting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12인 위원 찬반 및 확신도 표결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정족수(60%) 충족 검증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크레딧 헤드 반대의견 및 부대의견 수렴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1280160"/>
            <a:ext cx="17373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1463040"/>
            <a:ext cx="13716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Stage 6: 최종 승인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CIO Board Memo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다수결 선정안에 위원회 조건 반영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단기채 2%p 상향 미세 조정 완료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이사회 보고용 국문 메모 자동 발행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TOOL DETERMINISM  |  수리 통계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환각 없는 수학적 결정론: Python NumPy/SciPy 정량 알고리즘 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661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00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1. OAS 수축 공분산 행렬</a:t>
            </a:r>
            <a:r>
              <a:rPr sz="950" b="1">
                <a:solidFill>
                  <a:srgbClr val="0052CC"/>
                </a:solidFill>
              </a:rPr>
              <a:t>  [NumPy 구현]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Oracle Approximating Shrinkage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표본 공분산의 노이즈 제거: 고차원 데이터에서 역행렬 수치 불안정성 해소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EWMA 가중치 적용: 반감기 tau=60개월 설정으로 최근 국면 변화 반영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수축 계수 최적화: alpha_OAS 도출을 통해 표본 행렬(S)과 타겟 행렬(F) 최적 혼합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Sigma = (1 - alpha)*S + alpha*F 수식 엄밀 적용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결과: 12개 자산군 간 안정적이고 강건한 상관계수 행렬 도출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2. Black-Litterman 최적화</a:t>
            </a:r>
            <a:r>
              <a:rPr sz="950" b="1">
                <a:solidFill>
                  <a:srgbClr val="0052CC"/>
                </a:solidFill>
              </a:rPr>
              <a:t>  [SciPy 최적화]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내재 균형수익률 + 에이전트 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역최적화 내재수익률 도출: Pi = delta * Sigma * w_mkt 균형 앵커 설정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에이전트 뷰 행렬 결합: Stage 2 CMA 기대수익률을 뷰(Q, P, Omega)로 반영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베이지안 사후 분포 계산: 사후 기대수익률(mu_BL) 및 사후 공분산(Sigma_BL) 산출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SciPy SLSQP 최적화: IPS 상하한 제약 하에서 목적함수 극대화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결과: 극단적 쏠림 없는 균형 잡힌 자산배분 비중 도출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5661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00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3. 몬테카를로 95% CVaR</a:t>
            </a:r>
            <a:r>
              <a:rPr sz="950" b="1">
                <a:solidFill>
                  <a:srgbClr val="0052CC"/>
                </a:solidFill>
              </a:rPr>
              <a:t>  [Monte Carlo]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다변량 정규 난수 10,000회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10,000회 다변량 미래 시나리오 생성: 자산군 공분산 연동 난수 추출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하위 5% 최악 손실률 평균(95% CVaR): VaR의 한계를 극복한 꼬리위험(Tail Risk) 측정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최대 낙폭(MDD) 정량 추정: 10년 누적 시나리오 경로별 낙폭 분포 계산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CRO 한도 검증: IPS 최대 CVaR(18.0%), 변동성(12.0%) 초과 여부 자동 판정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결과: 감사가 가능한 정량 리스크 리포트 자동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INTERACTIVE DASHBOARD  |  웹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기관 의사결정자를 위한 4대 전문 분석 탭 및 실시간 파이프라인 시각화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6517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2286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탭 1: 종합 대시보드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Portfolio Overview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핵심 지표 카드 4종: 기대수익률(6.66%), 변동성(9.65%), Sharpe(0.30), 95% CVaR(13.78%)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12개 자산군 비중 비교 차트: 현재 포트폴리오 vs 3개 후보안 vs 최종 SAA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자산군별 비중 증감(Delta) 테이블: 미국 단기채 확대 및 고평가 자산 축소 현황 표시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280160"/>
            <a:ext cx="26517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7872" y="1463040"/>
            <a:ext cx="2286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탭 2: 위원회 투표 &amp; 거버넌스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Voting &amp; Quorum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12인 위원회 개별 투표 카드: 찬성 11표 vs 반대 1표, 확신도(1~10), 투표 논거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소수 반대의견(Dissent) 기록: 크레딧 리서치 헤드의 스프레드 과열 경고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5대 조건부 승인 조건 리스트: 승인 부대의견 실시간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280160"/>
            <a:ext cx="26517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463040"/>
            <a:ext cx="2286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탭 3: CMA &amp; 공분산 행렬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Capital Market Assumptions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위험-수익 산점도(Scatter Plot): 12개 자산군 10년 연율화 기대수익률 vs 변동성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12x12 상관계수 컬러 히트맵: OAS 수축 행렬 기반 자산 간 다변화 효과 직관적 확인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에이전트별 산출 근거 텍스트: 거시 레짐 반영 사유 상세 표기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97696" y="1280160"/>
            <a:ext cx="26517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1463040"/>
            <a:ext cx="22860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탭 4: CIO 이사회 투자 메모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Board Investment Memo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이사회 보고용 최종 투자 메모 전문: 마크다운 뷰어 탑재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의사결정 배경, 자산배분안, 리스크 관리 계획 체계적 정리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Stage 1~6 전체 감사 추적(Audit Trail): 에이전트 호출 기록 타임라인 제공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RISK GOVERNANCE  |  동적 IPS 연동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IPS 제약조건 변경에 따른 CRO 거부권(Veto) 및 앙상블 비중 통제 실증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동적 거부권 및 재최적화 메커니즘</a:t>
            </a:r>
            <a:r>
              <a:rPr sz="950" b="1">
                <a:solidFill>
                  <a:srgbClr val="0052CC"/>
                </a:solidFill>
              </a:rPr>
              <a:t>  [CRO 통제 로직]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실시간 피드백 루프 (Adversarial Loop)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IPS 모달 실시간 조작: 최대 허용 변동성, 최대 CVaR, 자산별 비중 상하한 슬라이더 제공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CRO 한도 위반 판정: 후보 포트폴리오의 리스크 지표가 IPS 한도를 초과하면 즉시 'REJECTED' 판정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위험회피계수(gamma) 동적 상향: pipeline.py가 gamma를 1.35배씩 상향 조정하며 Stage 3 재최적화 지시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적격 후보 앙상블 필터링: CRO 기준을 통과한 후보만 최종 가중 결합, 위반 후보는 비중 0 할당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한도 미충족 시 '위원회 개입 필요' 알림: 전 후보 부적격 시 강제 결합 방지 및 거버넌스 경고 발령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IPS 시나리오별 실제 시스템 반응 결과</a:t>
            </a:r>
            <a:r>
              <a:rPr sz="950" b="1">
                <a:solidFill>
                  <a:srgbClr val="0052CC"/>
                </a:solidFill>
              </a:rPr>
              <a:t>  [실행 데이터]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라이브 환경 실증 테스트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시나리오 A: 기본 IPS (변동성 8~12% 밴드 설정)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  -&gt; 21개 후보 중 2개 적격 판정  |  주식 56.5%, 변동성 8.85% (통과)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시나리오 B: 변동성 한도 축소 (최대 변동성 12.0% -&gt; 8.5% 강화)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  -&gt; 1개 적격 판정  |  주식 45.0%, 국채 확대, 변동성 8.27% (안전형 재배분)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시나리오 C: 변동성 하한 완화 (최소 변동성 8.0% -&gt; 5.0% 인하)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  -&gt; 6개 후보 통과  |  주식 48.4%, 변동성 7.92% (더 다양한 후보 가중 결합)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시나리오 D: 극단적 긴축 (주식 0~5%, 변동성 0~1% 설정)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  -&gt; 적격 후보 0개  |  포트폴리오 강제 생성 중단 및 '위원회 개입 필요' 표출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EMPIRICAL BACKTEST  |  실데이터 백테스트 (Phase 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Yahoo Finance 18개 ETF 실제 159개월(2013-2026) 분기 리밸런싱 성과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35661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004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1. 실데이터 데이터셋 구축</a:t>
            </a:r>
            <a:r>
              <a:rPr sz="950" b="1">
                <a:solidFill>
                  <a:srgbClr val="0052CC"/>
                </a:solidFill>
              </a:rPr>
              <a:t>  [데이터 파이프라인]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18개 ETF • 159개월 월간 총수익률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데이터 출처: Yahoo Finance 월간 수정주가 기반 총수익률(Total Return)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기간 범위: 2013년 7월 ~ 2026년 9월 (총 159개월, 13.2년)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자산군 매핑: 18개 대표 ETF (SPY, QQQ, EEM, TLT, SHY, LQD, HYG, GLD 등)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결측값 무결성: 결측값 0건, 분기별 정기 리밸런싱 백테스트 엔진(backtest.py) 완비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데이터 투명성: 웹상에서 원본 CSV 다운로드 지원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5661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463040"/>
            <a:ext cx="32004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2. 전략별 성과 비교 실증</a:t>
            </a:r>
            <a:r>
              <a:rPr sz="950" b="1">
                <a:solidFill>
                  <a:srgbClr val="0052CC"/>
                </a:solidFill>
              </a:rPr>
              <a:t>  [성과 비교]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최종 SAA vs 21개 후보 vs 60/40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전통 60/40 대비 위험조정수익률 개선: 다변화 효과를 통한 샤프비율 제고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하방 리스크 방어력 확인: 금리 급등기(2022년) 및 시장 급락기 낙폭 완화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동적 분산 효과: 주식-채권-원자재-대체자산 간 음의 상관관계 실증 발휘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21개 후보군 실증 성과 추적: 시장가치형, 최소분산형, 블랙-리터만형 궤적 비교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장기 자본 보존력: 복리 누적 수익률 및 안정적 자산 증대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566160" cy="3931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63040"/>
            <a:ext cx="320040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3. 백테스트 탭 UI 시각화</a:t>
            </a:r>
            <a:r>
              <a:rPr sz="950" b="1">
                <a:solidFill>
                  <a:srgbClr val="0052CC"/>
                </a:solidFill>
              </a:rPr>
              <a:t>  [대시보드 탑재]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인터랙티브 분석 인터페이스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데이터 연결 상태 배너: 출처, 수집 일자, 커버리지 기간, 결측치 상태 표시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누적 수익률 및 언더워터(MDD) 차트: Recharts 기반 시계열 곡선 렌더링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연도별 성과 바 차트: 2013~2026 연도별 수익률 분포 직관적 비교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ETF별 포트폴리오 적용 비중 표: 자산별 실제 할당 비중 및 기여도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ETF x 연도 원자료 매트릭스: 과거 13년 연간 수익률 원자료 테이블 제공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349240"/>
            <a:ext cx="3566160" cy="9601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58968"/>
            <a:ext cx="356616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검증 데이터 기간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052CC"/>
                </a:solidFill>
                <a:latin typeface="Malgun Gothic"/>
              </a:defRPr>
            </a:pPr>
            <a:r>
              <a:t>159 개월 (13.2년)</a:t>
            </a:r>
          </a:p>
          <a:p>
            <a:pPr algn="ctr">
              <a:defRPr sz="900">
                <a:solidFill>
                  <a:srgbClr val="334155"/>
                </a:solidFill>
                <a:latin typeface="Malgun Gothic"/>
              </a:defRPr>
            </a:pPr>
            <a:r>
              <a:t>2013-07 ~ 2026-09 Yahoo Finance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5349240"/>
            <a:ext cx="35661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5458968"/>
            <a:ext cx="356616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커버리지 ETF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51C2C"/>
                </a:solidFill>
                <a:latin typeface="Malgun Gothic"/>
              </a:defRPr>
            </a:pPr>
            <a:r>
              <a:t>18 개 대표 ETF</a:t>
            </a:r>
          </a:p>
          <a:p>
            <a:pPr algn="ctr">
              <a:defRPr sz="900">
                <a:solidFill>
                  <a:srgbClr val="334155"/>
                </a:solidFill>
                <a:latin typeface="Malgun Gothic"/>
              </a:defRPr>
            </a:pPr>
            <a:r>
              <a:t>글로벌 주식 • 국채 • 크레딧 • 금 • 원자재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5349240"/>
            <a:ext cx="356616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5458968"/>
            <a:ext cx="3566160" cy="777240"/>
          </a:xfrm>
          <a:prstGeom prst="rect">
            <a:avLst/>
          </a:prstGeom>
          <a:noFill/>
        </p:spPr>
        <p:txBody>
          <a:bodyPr wrap="none" lIns="0" tIns="0" bIns="0" rIns="0">
            <a:spAutoFit/>
          </a:bodyPr>
          <a:lstStyle/>
          <a:p>
            <a:pPr algn="ctr"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리밸런싱 주기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51C2C"/>
                </a:solidFill>
                <a:latin typeface="Malgun Gothic"/>
              </a:defRPr>
            </a:pPr>
            <a:r>
              <a:t>분기(Quarterly)</a:t>
            </a:r>
          </a:p>
          <a:p>
            <a:pPr algn="ctr">
              <a:defRPr sz="900">
                <a:solidFill>
                  <a:srgbClr val="334155"/>
                </a:solidFill>
                <a:latin typeface="Malgun Gothic"/>
              </a:defRPr>
            </a:pPr>
            <a:r>
              <a:t>현실적 기관 거래비용 절감 주기 반영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PRODUCTION DEPLOYMENT  |  클라우드 배포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로컬 머신 독립형 24/7 무중단 글로벌 서비스 구축 (Render Cloud)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클라우드 인프라 아키텍처</a:t>
            </a:r>
            <a:r>
              <a:rPr sz="950" b="1">
                <a:solidFill>
                  <a:srgbClr val="0052CC"/>
                </a:solidFill>
              </a:rPr>
              <a:t>  [인프라 구축]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Docker 컨테이너 + Render Blueprint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로컬 PC 의존성 완전 제거: 기존 임시 터널의 절전 모드 종료/IP 변경 문제 근본적 해결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풀스택 단일 컨테이너 빌드: React 19 프론트엔드를 정적 빌드하여 FastAPI 백엔드와 통합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Dockerfile 멀티 스테이지 빌드: Node.js 빌드 환경 -&gt; Python 경량 실행 환경 전환 (용량 최소화)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render.yaml Blueprint 정의: 인프라를 코드로 관리(IaC)하여 1클릭 복제 및 자동 배포 체계 확립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공식 글로벌 라이브 URL 오픈: https://self-driving-portfolio.onrender.com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무중단 서비스 운영: 전 세계 모바일, 태블릿, 외부 PC에서 24시간 언제든 실시간 접속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배포 환경 엔드포인트 및 검증 현황</a:t>
            </a:r>
            <a:r>
              <a:rPr sz="950" b="1">
                <a:solidFill>
                  <a:srgbClr val="0052CC"/>
                </a:solidFill>
              </a:rPr>
              <a:t>  [엔드포인트 검증]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All Services Healthy (HTTP 200 OK)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웹 프론트엔드 라우트: GET / (React SPA 대시보드 무중단 서빙)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백테스트 탭 딥링크: GET /#backtest (실데이터 백테스트 즉시 이동)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백엔드 헬스체크: GET /api/health -&gt; {'status': 'ok', 'agents_active': 50}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파이프라인 실행 API: POST /api/pipeline/run (실시간 IPS 변경 연산 수행)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백테스트 데이터 API: GET /api/backtest, GET /api/backtest/data.csv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글로벌 CDN 및 SSL 보안: Cloudflare 엣지 네트워크 자동 적용(HTTPS/HTTP/2/HTTP/3)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검증 결과: 빌드 파이프라인 및 전 엔드포인트 100% 정상 작동 완료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CODE GOVERNANCE  |  코드 거버넌스 및 협업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GitHub 기반 오픈소스 수준의 코드 관리 및 팀원 Pull Request 협업 체계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코드베이스 체계화 및 문서화</a:t>
            </a:r>
            <a:r>
              <a:rPr sz="950" b="1">
                <a:solidFill>
                  <a:srgbClr val="0052CC"/>
                </a:solidFill>
              </a:rPr>
              <a:t>  [저장소 관리]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GitHub: Placer-BAE/self-driving-portfolio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버전 관리 초기화: main 브랜치 기반 클린 소스코드(52개 파일) 형상 관리 확립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README.md 완비: 프로젝트 개요, 4대 설계 원칙, 원클릭 실행 스크립트, 인터랙티브 검토 가이드 수록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CODE_REVIEW_GUIDE.md 제공: 논문 Stage 1~6 수식과 실제 Python 파일(agents/...) 간 1:1 매핑 표 완비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엄격한 .gitignore 관리: 대용량 node_modules, 가상환경, 임시 바이너리 배제 (경량 200KB 소스 유지)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독립형 실행 지원: API 키가 없어도 시뮬레이션 모드로 100% 정상 동작하는 .env.example 템플릿 제공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팀원 간 Pull Request 협업 실증</a:t>
            </a:r>
            <a:r>
              <a:rPr sz="950" b="1">
                <a:solidFill>
                  <a:srgbClr val="0052CC"/>
                </a:solidFill>
              </a:rPr>
              <a:t>  [협업 실증]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PR #1 심사 및 기능 통합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협업 워크플로우: Fork 저장소(KuJae) -&gt; 원본 저장소(Placer-BAE) 기여 체계 가동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Pull Request #1 오픈: 'Render 배포 + 실데이터 백테스트 탭 + IPS 실제 연동'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코드 리뷰 포인트: Dockerfile 무결성, pandas 의존성 보강, 앙상블 비중 통제 로직 검토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단일 저장소-단일 도메인 체계: 원본 저장소 main 병합을 통한 자동 CI/CD 트리거 완성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경량 압축본(Self_Driving_Portfolio_Source_Code.zip) 구비: 오프라인 심사자 전달용 패키지 병행 확보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MILESTONE ACHIEVEMENT  |  성과 종합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목표 대비 5대 핵심 영역 100% 달성 및 차별화 포인트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2066543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1700783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1. 논문 아키텍처 구현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달성도: 100%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13개 에이전트 6단계 파이프라인 완결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거시 레짐 -&gt; 10년 CMA -&gt; PC 최적화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12인 위원회 정족수 투표 및 이사회 메모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Ang et al. (2026) 이론 완벽 재현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9775" y="1280160"/>
            <a:ext cx="2066543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5" y="1463040"/>
            <a:ext cx="1700783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2. 수리 통계 엔진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달성도: 100%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OAS 수축 공분산 행렬 (alpha=0.18)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Black-Litterman 베이지안 최적화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10,000회 몬테카를로 95% CVaR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수학 계산 환각 0% (Tool Determinism)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0" y="1280160"/>
            <a:ext cx="2066543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0" y="1463040"/>
            <a:ext cx="1700783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3. 풀스택 대시보드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달성도: 100%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React 19 + TypeScript + Tailwind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4대 전문 분석 탭 및 파이프라인 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IPS 슬라이더 실시간 변경 및 재연산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CRO 거부권(Veto) 시각화 완료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5" y="1280160"/>
            <a:ext cx="2066543" cy="4937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4925" y="1463040"/>
            <a:ext cx="1700783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4. 클라우드 배포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달성도: 100%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Docker 멀티 스테이지 컨테이너화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Render Cloud 24/7 글로벌 배포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self-driving-portfolio.onrender.com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로컬 환경 탈피 및 모바일 접속 지원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0" y="1280160"/>
            <a:ext cx="2066543" cy="493776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56060" y="1463040"/>
            <a:ext cx="1700783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5. 실데이터 백테스트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달성도: 100%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18개 ETF 159개월 실데이터 검증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SAA vs 60/40 분기 리밸런싱 성과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낙폭, 연도별 수익률, 원자료 표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Phase 3 로드맵 조기 완수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19456"/>
            <a:ext cx="1106424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ROADMAP &amp; CONCLUSION  |  향후 계획 및 결론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02920"/>
            <a:ext cx="1106424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1700" b="1">
                <a:solidFill>
                  <a:srgbClr val="051C2C"/>
                </a:solidFill>
                <a:latin typeface="Malgun Gothic"/>
              </a:defRPr>
            </a:pPr>
            <a:r>
              <a:t>차기 고도화 계획 및 프로젝트 결언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1109441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Malgun Gothic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539496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기말 발표를 위한 향후 고도화 로드맵</a:t>
            </a:r>
            <a:r>
              <a:rPr sz="950" b="1">
                <a:solidFill>
                  <a:srgbClr val="0052CC"/>
                </a:solidFill>
              </a:rPr>
              <a:t>  [향후 계획]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Phase 4 &amp; Phase 5 추진 계획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1. 실시간 금융 API 파이프라인 연동: FRED(미국 연준 거시지표) 및 실시간 ETF 시세 자동 동기화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2. 멀티 모달 심의 고도화: 이사회 메모 PDF 자동 생성 및 투자위원회 음성 브리핑(TTS) 기능 추가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3. 전략 심의 다양화: 위험예산(Risk Parity), 팩터 기반(Fama-French) PC 에이전트 추가 확장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4. 레짐 전환 적응성 강화: 거시 국면 급변 시 비정기(Ad-hoc) 리밸런싱 트리거 알고리즘 탑재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5. 기말 보고서 및 학술 논문 포맷 정리: 최종 성과 보고서 및 코드 저장소 패키징 고도화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394960" cy="49377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0292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51C2C"/>
                </a:solidFill>
                <a:latin typeface="Malgun Gothic"/>
              </a:defRPr>
            </a:pPr>
            <a:r>
              <a:t>프로젝트 결언 및 기대 효과</a:t>
            </a:r>
            <a:r>
              <a:rPr sz="950" b="1">
                <a:solidFill>
                  <a:srgbClr val="0052CC"/>
                </a:solidFill>
              </a:rPr>
              <a:t>  [결론]</a:t>
            </a:r>
          </a:p>
          <a:p>
            <a:pPr>
              <a:spcAft>
                <a:spcPts val="600"/>
              </a:spcAft>
              <a:defRPr sz="1000" b="1">
                <a:solidFill>
                  <a:srgbClr val="0052CC"/>
                </a:solidFill>
                <a:latin typeface="Malgun Gothic"/>
              </a:defRPr>
            </a:pPr>
            <a:r>
              <a:t>자율주행 자산운용의 미래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이론의 실무적 구현: 최신 학술 논문(2026)의 멀티 에이전트 SAA를 실제 작동 가능한 프로덕션으로 입증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수리적 신뢰성 확보: LLM의 취약점인 수학 계산을 결정론적 엔진으로 격리하여 기관 수준의 정확도 달성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거버넌스 투명성 혁신: 블랙박스 AI를 배제하고 위원회 투표, 소수의견, CRO 거부권 등 완벽한 감사 추적 제공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완전한 프로덕션 완성도: 24/7 글로벌 클라우드 배포와 15년 실데이터 백테스트를 통해 즉시 시연 가능한 솔루션 확립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Malgun Gothic"/>
              </a:defRPr>
            </a:pPr>
            <a:r>
              <a:t>•  Q&amp;A 및 피드백: 심사위원 및 청중 질의응답 진행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