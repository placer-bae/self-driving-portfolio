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SYSTEM ARCHITECTURE |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기초데이터 체계 및 18개 대표 ETF 유니버스 매핑 (Exhibit 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474720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47472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1. 데이터 원천 및 수집 규격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310896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·  데이터 소스: 야후 파이낸스(Yahoo Finance) 공식 실데이터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·  분석 기간: 2013년 7월 ~ 2026년 9월 (총 159개월 장기 시계열)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·  데이터 유형: 배당 재투자 반영 월간 수정 총수익률(Adj Close)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·  거시 지표: FRED 실질 GDP(성장), CPI(물가), 10Y-2Y 금리차 연동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·  무위험 수익률: 미국 1-3개월 T-Bill(BIL) 기반 3.7% 설정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·  상용 유료 벤더 배제: 누구나 100% 동일하게 검증/재현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63040"/>
            <a:ext cx="4206240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4206240" cy="548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2. 18개 ETF 자산 유니버스 (Exhibit 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21408"/>
            <a:ext cx="3840479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주식군 (6개 ETF / 4대 권역):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미국 대형주(SPY), 성장주(VUG), 가치주(VTV), 중소형주(IWM)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선진국 EAFE 주식(EFA), 신흥국 주식(EEM)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채권군 (8개 ETF / 만기 및 신용 분산):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미국 단기국채(SHY), 중기국채(IEF), 장기국채(TLT)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투자등급 회사채(LQD), 미국 하이일드 채권(HYG)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국제 국채(BNDX), 국제 회사채(PICB), 신흥국 달러채(EMB)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대체/실물 (3개): 금(GLD), 원자재(GSG), 미국 리츠(VNQ)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현금성 자산 (1개): 초단기 T-Bill(BIL, 유동성 버퍼)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463040"/>
            <a:ext cx="2953512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463040"/>
            <a:ext cx="2953512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45920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3. 수리 통계 및 정규화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21408"/>
            <a:ext cx="2587752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공분산 추정 엔진: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Ledoit-Wolf OAS 수축 기법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표본 공분산의 노이즈 원천 제거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행렬 역전(Inversion) 수치 안정성 확보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기대수익률(CMA) 모델링: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- 10년 자본시장 가정(CMA) 기반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거시 국면(Late-cycle) 충격 반영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벤치마크(BM) 설정: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글로벌 전통 60/40 포트폴리오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   - SPY 60% + IEF 40% 기준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·  실무 정합성: 유동성이 풍부한 18개 대표 ETF로 글로벌 기관 포트폴리오의 실질 익스포저를 100% 복제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·  무결성 원칙: 결측치 보정 및 이상치 정제 완료, Python 과학 연산(NumPy/SciPy)으로 수치 환각 0% 보장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PORTFOLIO CONSTRUCTION | 21 CANDIDATE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4대 계열 21개 포트폴리오 최적화 후보군 상세 (Exhibit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33472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33472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051C2C"/>
                </a:solidFill>
                <a:latin typeface="Malgun Gothic"/>
              </a:rPr>
              <a:t>Family A : 휴리스틱 (5개)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매개변수 추정 오차 배제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단순 규칙 기반 배분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560320"/>
            <a:ext cx="2304288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97480"/>
            <a:ext cx="2304288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1. 동일가중 (1/N Equal Weight)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2. 시가총액 가중 (Market-Cap Weight)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3. 역변동성 (Inverse Volatility, 1/σ)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4. 역분산 (Inverse Variance, 1/σ²)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5. 타깃 변동성 (Volatility Targeting)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463040"/>
            <a:ext cx="2633472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463040"/>
            <a:ext cx="2633472" cy="548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62763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051C2C"/>
                </a:solidFill>
                <a:latin typeface="Malgun Gothic"/>
              </a:rPr>
              <a:t>Family B : 수익률 최적화 (5개)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1993392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기대수익률(μ) 극대화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위험-수익 트레이드오프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9584" y="2560320"/>
            <a:ext cx="2304288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2697480"/>
            <a:ext cx="2304288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1. 평균-분산 최적화 (MVO / Markowitz)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2. 블랙-리터만 (Black-Litterman)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3. 최대 샤프 (Max Sharpe Ratio)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4. 로버스트 평균-분산 (Robust MVO)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5. 리샘플링 프론티어 (Resampled)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463040"/>
            <a:ext cx="2633472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463040"/>
            <a:ext cx="2633472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62763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051C2C"/>
                </a:solidFill>
                <a:latin typeface="Malgun Gothic"/>
              </a:rPr>
              <a:t>Family C : 위험 구조화 (5개)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993392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μ 추정 오류 원천 배제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공분산(Σ) 기반 리스크 균등화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560320"/>
            <a:ext cx="2304288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2697480"/>
            <a:ext cx="2304288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1. 위험균형 (Risk Parity / ERC)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2. 최대 분산 (Max Diversification)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3. 최소 분산 (Minimum Variance)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4. 계층적 위험균형 (HRP / Tree ML)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5. 꼬리위험 균형 (Tail Risk Parity)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1463040"/>
            <a:ext cx="2633472" cy="37947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7696" y="1463040"/>
            <a:ext cx="2633472" cy="548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1627632"/>
            <a:ext cx="2304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051C2C"/>
                </a:solidFill>
                <a:latin typeface="Malgun Gothic"/>
              </a:rPr>
              <a:t>Family D : 비전통 모델 (6개)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1993392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비선형 리스크 제어 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52CC"/>
                </a:solidFill>
                <a:latin typeface="Malgun Gothic"/>
              </a:rPr>
              <a:t>거버넌스 직교 헤지 탐색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62288" y="2560320"/>
            <a:ext cx="2304288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2697480"/>
            <a:ext cx="2304288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1. Two-Phase Allocation (TPA)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2. 조건부 가치위험 (CVaR 최적화)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3. 소르티노 위험 (Downside Risk)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4. 최대 엔트로피 (Max Entropy)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5. 적대적 분산기 (Adversarial Div)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6. 레짐 스위칭 (Regime-Switching)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·  후보군 다양성: 전통적 금융공학(Family A, B)과 최신 머신러닝/위험제어(Family C, D) 21개 모델이 동일 조건에서 공정 경쟁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·  거버넌스 연계: 21개 모델의 제안은 CRO 독립 리스크 심사(45%)와 심사역 간 피어 리뷰 수정 보르다 투표(55%)로 종합 평가됨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EXECUTIVE SUMMARY | DATA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기초데이터 체계 및 21개 투자안 후보군 총괄 맵 (One-Page Summary)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49240" cy="38404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4924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Part 1. 기초데이터 체계 및 18개 ETF 유니버스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52CC"/>
                </a:solidFill>
                <a:latin typeface="Malgun Gothic"/>
              </a:rPr>
              <a:t>■ 데이터 원천 및 규격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야후 파이낸스 실데이터 159개월 (2013.07 ~ 2026.09, 배당재투자 수정 총수익률)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거시 지표: FRED 실질 GDP(성장), CPI(물가), 장단기 금리차 연동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75569"/>
                </a:solidFill>
                <a:latin typeface="Malgun Gothic"/>
              </a:rPr>
              <a:t>· 수리 엔진: Ledoit-Wolf OAS 공분산 수축 및 10년 CMA 기대수익률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52CC"/>
                </a:solidFill>
                <a:latin typeface="Malgun Gothic"/>
              </a:rPr>
              <a:t>■ 18개 대표 ETF 유동성 대용치 (Exhibit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Malgun Gothic"/>
              </a:rPr>
              <a:t>· 주식군(6): 미국 대형주(SPY), 성장(VUG), 가치(VTV), 중소형(IWM), 선진국(EFA), 신흥국(EEM)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Malgun Gothic"/>
              </a:rPr>
              <a:t>· 채권군(8): 미국 단기채(SHY), 중기채(IEF), 장기채(TLT), 회사채(LQD), 하이일드(HYG), 국제채(BNDX, PICB, EMB)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Malgun Gothic"/>
              </a:rPr>
              <a:t>· 실물자산(3): 금(GLD), 원자재(GSG), 미국 리츠(VNQ)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Malgun Gothic"/>
              </a:rPr>
              <a:t>· 현금성(1): 미국 초단기 T-Bill(BIL, 무위험 수익률 대용)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63040"/>
            <a:ext cx="5468112" cy="38404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5468112" cy="548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Part 2. 논문 Exhibit 5 기반 4대 계열 21개 모델 후보군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03120"/>
            <a:ext cx="5010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4736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1C2C"/>
                </a:solidFill>
                <a:latin typeface="Malgun Gothic"/>
              </a:rPr>
              <a:t>Family A : 휴리스틱 (5개)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algun Gothic"/>
              </a:rPr>
              <a:t>동일가중(1/N), 시가총액 가중, 역변동성(1/σ), 역분산(1/σ²), 타깃 변동성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52927"/>
            <a:ext cx="5010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926079"/>
            <a:ext cx="4736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1C2C"/>
                </a:solidFill>
                <a:latin typeface="Malgun Gothic"/>
              </a:rPr>
              <a:t>Family B : 수익률 최적화 (5개)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72968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algun Gothic"/>
              </a:rPr>
              <a:t>평균-분산(MVO), 블랙-리터만(BL), 최대 샤프, 로버스트 MVO, 리샘플링 프론티어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02735"/>
            <a:ext cx="5010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675887"/>
            <a:ext cx="4736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1C2C"/>
                </a:solidFill>
                <a:latin typeface="Malgun Gothic"/>
              </a:rPr>
              <a:t>Family C : 위험 구조화 (5개)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22775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algun Gothic"/>
              </a:rPr>
              <a:t>위험균형(Risk Parity), 최대 분산, 최소 분산, 계층적 위험균형(HRP), 꼬리위험 균형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352544"/>
            <a:ext cx="5010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425696"/>
            <a:ext cx="4736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51C2C"/>
                </a:solidFill>
                <a:latin typeface="Malgun Gothic"/>
              </a:rPr>
              <a:t>Family D : 비전통 모델 (6개)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672583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Malgun Gothic"/>
              </a:rPr>
              <a:t>Two-Phase Allocation(TPA), CVaR 최적화, 소르티노 위험, 최대 엔트로피, 적대적 분산기, 레짐 스위칭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·  거버넌스 평가 결론: CRO 정량 평가(45%) + 심사역 피어 리뷰 보르다 투표(55%)를 합산하여 종합 순위 산출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algun Gothic"/>
              </a:rPr>
              <a:t>·  IPS 규정 준수: 종합 점수가 우수해도 사전 변동성 [8~12%] 밴드를 충족한 모델(TPA, 시총가중)만 최종 앙상블로 진입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