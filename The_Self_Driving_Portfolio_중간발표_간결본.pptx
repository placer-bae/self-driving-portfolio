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93C5FD"/>
                </a:solidFill>
                <a:latin typeface="Malgun Gothic"/>
              </a:rPr>
              <a:t>중간발표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algun Gothic"/>
              </a:rPr>
              <a:t>The Self-Driving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E2E8F0"/>
                </a:solidFill>
                <a:latin typeface="Malgun Gothic"/>
              </a:rPr>
              <a:t>멀티 에이전트 기반 기관 전략적 자산배분(SAA) 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1097280" cy="2743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</a:rPr>
              <a:t>Base Paper  |  Ang, Azimbayev, Kim (2026)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4A3B8"/>
                </a:solidFill>
                <a:latin typeface="Malgun Gothic"/>
              </a:rPr>
              <a:t>github.com/Placer-BAE/self-driving-portfolio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0052CC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83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논문 배경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86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문제의식 · 핵심 구조 · 설계 원칙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743200"/>
            <a:ext cx="8686800" cy="9144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0052CC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92607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주제 선정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29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시의성 · 실무성 · 구현 가능성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886200"/>
            <a:ext cx="8686800" cy="9144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0052CC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69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구현 과정 및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572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시스템 구성 · 진행 상태 · 중간 결과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5029200"/>
            <a:ext cx="8686800" cy="9144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0052CC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2120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기말까지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715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이슈 · 로드맵 · 최종 산출물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01  논문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기관 SAA의 구조적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33472" cy="31089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91C1C"/>
                </a:solidFill>
                <a:latin typeface="Malgun Gothic"/>
              </a:rPr>
              <a:t>연 1회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경직된 주기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시장 국면 변화 대응 지연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형식적 재검토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645920"/>
            <a:ext cx="2633472" cy="31089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91C1C"/>
                </a:solidFill>
                <a:latin typeface="Malgun Gothic"/>
              </a:rPr>
              <a:t>사일로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560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부서 간 단절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31089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부서별 전제 불일치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수작업 취합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45920"/>
            <a:ext cx="2633472" cy="31089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91C1C"/>
                </a:solidFill>
                <a:latin typeface="Malgun Gothic"/>
              </a:rPr>
              <a:t>사후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560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리스크 통제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31089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확정 후 리스크 검토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수정 비용 과다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645920"/>
            <a:ext cx="2633472" cy="31089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874519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B91C1C"/>
                </a:solidFill>
                <a:latin typeface="Malgun Gothic"/>
              </a:rPr>
              <a:t>기록 부재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2560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감사 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1089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조정 사유 불투명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재현 · 검증 곤란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74920"/>
            <a:ext cx="11091672" cy="96012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10515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논문 제안  →  AI 에이전트 위원회가 SAA 전 과정을 분업 · 상호 검증 · 기록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01  논문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6단계 에이전트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828800"/>
            <a:ext cx="1965960" cy="1188720"/>
          </a:xfrm>
          <a:prstGeom prst="homePlat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거시 진단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Macro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경제 국면 판정</a:t>
            </a:r>
          </a:p>
        </p:txBody>
      </p:sp>
      <p:sp>
        <p:nvSpPr>
          <p:cNvPr id="12" name="Chevron 11"/>
          <p:cNvSpPr/>
          <p:nvPr/>
        </p:nvSpPr>
        <p:spPr>
          <a:xfrm>
            <a:off x="2404872" y="1828800"/>
            <a:ext cx="1965960" cy="1188720"/>
          </a:xfrm>
          <a:prstGeom prst="chevron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수익 · 위험 가정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872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CMA · Covariance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기대수익률 · 공분산</a:t>
            </a:r>
          </a:p>
        </p:txBody>
      </p:sp>
      <p:sp>
        <p:nvSpPr>
          <p:cNvPr id="17" name="Chevron 16"/>
          <p:cNvSpPr/>
          <p:nvPr/>
        </p:nvSpPr>
        <p:spPr>
          <a:xfrm>
            <a:off x="4261103" y="1828800"/>
            <a:ext cx="1965960" cy="1188720"/>
          </a:xfrm>
          <a:prstGeom prst="chevron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3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3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포트폴리오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1103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PC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3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복수 최적화 후보</a:t>
            </a:r>
          </a:p>
        </p:txBody>
      </p:sp>
      <p:sp>
        <p:nvSpPr>
          <p:cNvPr id="22" name="Chevron 21"/>
          <p:cNvSpPr/>
          <p:nvPr/>
        </p:nvSpPr>
        <p:spPr>
          <a:xfrm>
            <a:off x="6117336" y="1828800"/>
            <a:ext cx="1965960" cy="1188720"/>
          </a:xfrm>
          <a:prstGeom prst="chevron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5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7336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리스크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CRO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7336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IPS 위반 시 거부</a:t>
            </a:r>
          </a:p>
        </p:txBody>
      </p:sp>
      <p:sp>
        <p:nvSpPr>
          <p:cNvPr id="27" name="Chevron 26"/>
          <p:cNvSpPr/>
          <p:nvPr/>
        </p:nvSpPr>
        <p:spPr>
          <a:xfrm>
            <a:off x="7973567" y="1828800"/>
            <a:ext cx="1965960" cy="1188720"/>
          </a:xfrm>
          <a:prstGeom prst="chevron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7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7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위원회 투표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7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Committee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7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찬반 · 소수의견</a:t>
            </a:r>
          </a:p>
        </p:txBody>
      </p:sp>
      <p:sp>
        <p:nvSpPr>
          <p:cNvPr id="32" name="Chevron 31"/>
          <p:cNvSpPr/>
          <p:nvPr/>
        </p:nvSpPr>
        <p:spPr>
          <a:xfrm>
            <a:off x="9829799" y="1828800"/>
            <a:ext cx="1965960" cy="1188720"/>
          </a:xfrm>
          <a:prstGeom prst="chevron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39" y="1828800"/>
            <a:ext cx="14173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799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최종 승인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799" y="37033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CIO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799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Malgun Gothic"/>
              </a:rPr>
              <a:t>배분 확정 · 이사회 메모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800600"/>
            <a:ext cx="3749039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800600"/>
            <a:ext cx="37490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2CC"/>
                </a:solidFill>
                <a:latin typeface="Malgun Gothic"/>
              </a:rPr>
              <a:t>↺  거부 시 3단계 재최적화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입력: 거시지표 · 자산군 수익률   |   출력: 최종 SAA 비중 · 투자 메모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01  논문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4대 설계 원칙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33472" cy="35661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52CC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전문화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Specialization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749039"/>
            <a:ext cx="548640" cy="182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역할별 에이전트 분업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737360"/>
            <a:ext cx="2633472" cy="35661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52CC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6060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도구 결정론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3200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Tool Determinism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3592" y="3749039"/>
            <a:ext cx="548640" cy="182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3977639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LLM = 해석 · 토론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코드 = 수학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1737360"/>
            <a:ext cx="2633472" cy="35661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52CC"/>
                </a:solidFill>
                <a:latin typeface="Malgun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6060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적대적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200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Adversarial Critique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9944" y="3749039"/>
            <a:ext cx="548640" cy="182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977639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CRO 거부권 → 재작업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97696" y="1737360"/>
            <a:ext cx="2633472" cy="35661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052CC"/>
                </a:solidFill>
                <a:latin typeface="Malgun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60604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감사 추적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3200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Audit Trail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26296" y="3749039"/>
            <a:ext cx="548640" cy="182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3977639"/>
            <a:ext cx="2194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투표 · 근거 · 사유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51C2C"/>
                </a:solidFill>
                <a:latin typeface="Malgun Gothic"/>
              </a:rPr>
              <a:t>핵심  →  LLM 수치 환각 차단 + 의사결정 투명성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02  주제 선정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왜 이 논문인가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6616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56616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시의성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2026년 최신 연구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Agentic AI × 자산운용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실무 도입 초기 단계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645920"/>
            <a:ext cx="356616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645920"/>
            <a:ext cx="356616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1920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실무성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5146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연기금 · 국부펀드 SAA 프로세스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위원회 · IPS 등 실제 거버넌스 반영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금융공학 수업 내용과 직결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645920"/>
            <a:ext cx="356616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645920"/>
            <a:ext cx="356616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9202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51C2C"/>
                </a:solidFill>
                <a:latin typeface="Malgun Gothic"/>
              </a:rPr>
              <a:t>구현 가능성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51460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명확한 수식 (OAS · BL · CVaR)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공개 데이터로 재현 가능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475569"/>
                </a:solidFill>
                <a:latin typeface="Malgun Gothic"/>
              </a:rPr>
              <a:t>·  웹 시연으로 결과 확인 용이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11091672" cy="82296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algun Gothic"/>
              </a:rPr>
              <a:t>목표  →  논문 구조를 동작하는 시스템으로 재현 · 실데이터로 검증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03  구현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시스템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46888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4688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39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12개 자산군 수익률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거시지표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ETF 실수익률 (추가)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052CC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9856" y="1737360"/>
            <a:ext cx="246888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1737360"/>
            <a:ext cx="2468880" cy="54864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20116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백엔드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2606039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Python · FastAPI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6단계 파이프라인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NumPy · SciPy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7024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052CC"/>
                </a:solidFill>
                <a:latin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737360"/>
            <a:ext cx="246888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1737360"/>
            <a:ext cx="24688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프론트엔드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606039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React · TypeScript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대시보드 4개 탭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IPS 설정 · 재실행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743200"/>
            <a:ext cx="365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0052CC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62288" y="1737360"/>
            <a:ext cx="2468880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2288" y="1737360"/>
            <a:ext cx="2468880" cy="54864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0888" y="20116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배포 · 협업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606039"/>
            <a:ext cx="2011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GitHub 저장소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Render 클라우드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Pull Request 리뷰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계산 원칙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수치 계산: 결정론적 코드 (재현 가능)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해설 · 토론: LLM 또는 시뮬레이션 모드 (API 키 없이 동작)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03  구현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진행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08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</a:rPr>
              <a:t>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5087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</a:rPr>
              <a:t>상태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01367"/>
            <a:ext cx="11091672" cy="51206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7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1~2단계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801367"/>
            <a:ext cx="6858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거시 진단 · CMA · OAS 공분산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865376"/>
            <a:ext cx="1554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86537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50008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3단계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50008"/>
            <a:ext cx="6858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포트폴리오 후보 최적화 (MV · BL 등)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2414016"/>
            <a:ext cx="1554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41401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898648"/>
            <a:ext cx="11091672" cy="51206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98648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4단계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898648"/>
            <a:ext cx="6858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CRO 몬테카를로 CVaR · 거부 루프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962656"/>
            <a:ext cx="1554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96265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47287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5~6단계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447287"/>
            <a:ext cx="6858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위원회 투표 · CIO 메모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3511296"/>
            <a:ext cx="1554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351129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95927"/>
            <a:ext cx="11091672" cy="51206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95927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대시보드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995927"/>
            <a:ext cx="6858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4개 분석 탭 · IPS 설정 · 한국어화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4059935"/>
            <a:ext cx="1554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4059935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544568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배포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544568"/>
            <a:ext cx="6858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Render 상시 접속 주소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4608576"/>
            <a:ext cx="1554480" cy="3657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460857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PR 검토 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93207"/>
            <a:ext cx="11091672" cy="512064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093207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백테스트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5093207"/>
            <a:ext cx="6858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18개 ETF · 159개월 실데이터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92640" y="5157216"/>
            <a:ext cx="1554480" cy="36576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0" y="515721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PR 검토 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641848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LLM 연동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5641848"/>
            <a:ext cx="6858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실제 API 기반 에이전트 추론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92640" y="5705856"/>
            <a:ext cx="1554480" cy="365760"/>
          </a:xfrm>
          <a:prstGeom prst="round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0" y="5705856"/>
            <a:ext cx="1554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예정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03  중간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기본 IPS 기준 파이프라인 산출물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33472" cy="17373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75569"/>
                </a:solidFill>
                <a:latin typeface="Malgun Gothic"/>
              </a:rPr>
              <a:t>기대수익률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26334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0052CC"/>
                </a:solidFill>
                <a:latin typeface="Malgun Gothic"/>
              </a:rPr>
              <a:t>6.66%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633472" cy="17373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874519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75569"/>
                </a:solidFill>
                <a:latin typeface="Malgun Gothic"/>
              </a:rPr>
              <a:t>변동성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331720"/>
            <a:ext cx="26334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051C2C"/>
                </a:solidFill>
                <a:latin typeface="Malgun Gothic"/>
              </a:rPr>
              <a:t>9.65%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633472" cy="17373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874519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75569"/>
                </a:solidFill>
                <a:latin typeface="Malgun Gothic"/>
              </a:rPr>
              <a:t>샤프비율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331720"/>
            <a:ext cx="26334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051C2C"/>
                </a:solidFill>
                <a:latin typeface="Malgun Gothic"/>
              </a:rPr>
              <a:t>0.30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1645920"/>
            <a:ext cx="2633472" cy="17373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874519"/>
            <a:ext cx="2633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475569"/>
                </a:solidFill>
                <a:latin typeface="Malgun Gothic"/>
              </a:rPr>
              <a:t>95% CVaR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331720"/>
            <a:ext cx="26334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051C2C"/>
                </a:solidFill>
                <a:latin typeface="Malgun Gothic"/>
              </a:rPr>
              <a:t>13.78%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채택안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79476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Black-Litterman 후보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위원회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976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찬성 11 · 반대 1 (크레딧 과열 우려)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CIO 조정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8006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미국 단기국채 +2%p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51C2C"/>
                </a:solidFill>
                <a:latin typeface="Malgun Gothic"/>
              </a:rPr>
              <a:t>IPS 시연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3035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변동성 한도 축소 → CRO 거부 → 재최적화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algun Gothic"/>
              </a:rPr>
              <a:t>※ 시뮬레이션 데이터 기준 · 백테스트 PR 반영 시 수치 변경 예정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04 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현재 이슈 및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33472" cy="39319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51C2C"/>
                </a:solidFill>
                <a:latin typeface="Malgun Gothic"/>
              </a:rPr>
              <a:t>IPS 기준 재설정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176272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기본 변동성 밴드 8~12%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21개 후보 중 적격 2개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→ 기준값 재검토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4992" y="1645920"/>
            <a:ext cx="2633472" cy="39319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2" y="1645920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92024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51C2C"/>
                </a:solidFill>
                <a:latin typeface="Malgun Gothic"/>
              </a:rPr>
              <a:t>데이터 신뢰성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514600"/>
            <a:ext cx="2176272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현재: 시뮬레이션 수익률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실데이터 ETF 전환 필요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→ 결과 수치 재산출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645920"/>
            <a:ext cx="2633472" cy="39319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645920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92024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51C2C"/>
                </a:solidFill>
                <a:latin typeface="Malgun Gothic"/>
              </a:rPr>
              <a:t>LLM 실연동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514600"/>
            <a:ext cx="2176272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현재: 시뮬레이션 모드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에이전트 추론 품질 검증 필요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→ API 연동 · 비용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7696" y="1645920"/>
            <a:ext cx="2633472" cy="39319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97696" y="1645920"/>
            <a:ext cx="2633472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192024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51C2C"/>
                </a:solidFill>
                <a:latin typeface="Malgun Gothic"/>
              </a:rPr>
              <a:t>성과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2514600"/>
            <a:ext cx="2176272" cy="2926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백테스트 기초 구현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거래비용 · 비교군 부족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475569"/>
                </a:solidFill>
                <a:latin typeface="Malgun Gothic"/>
              </a:rPr>
              <a:t>·  → 강건성 분석 보강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04 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기말까지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10607040" cy="3657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463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1~2주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1984248"/>
            <a:ext cx="365760" cy="36576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633472" cy="27432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통합 · 정비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661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팀원 PR 병합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배포 주소 단일화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IPS 기본값 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1508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463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3~4주</a:t>
            </a:r>
          </a:p>
        </p:txBody>
      </p:sp>
      <p:sp>
        <p:nvSpPr>
          <p:cNvPr id="16" name="Oval 15"/>
          <p:cNvSpPr/>
          <p:nvPr/>
        </p:nvSpPr>
        <p:spPr>
          <a:xfrm>
            <a:off x="3593592" y="1984248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2651760"/>
            <a:ext cx="2633472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실데이터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35661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ETF 수익률 기반 CMA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공분산 재추정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결과 재산출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1508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1463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5~6주</a:t>
            </a:r>
          </a:p>
        </p:txBody>
      </p:sp>
      <p:sp>
        <p:nvSpPr>
          <p:cNvPr id="22" name="Oval 21"/>
          <p:cNvSpPr/>
          <p:nvPr/>
        </p:nvSpPr>
        <p:spPr>
          <a:xfrm>
            <a:off x="6409944" y="1984248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2651760"/>
            <a:ext cx="2633472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LLM 실연동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5661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거시 · CIO 에이전트 우선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프롬프트 · 출력 검증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시뮬레이션 대비 비교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26296" y="15087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52CC"/>
                </a:solidFill>
                <a:latin typeface="Malgun Gothic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4976" y="14630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51C2C"/>
                </a:solidFill>
                <a:latin typeface="Malgun Gothic"/>
              </a:rPr>
              <a:t>7~8주</a:t>
            </a:r>
          </a:p>
        </p:txBody>
      </p:sp>
      <p:sp>
        <p:nvSpPr>
          <p:cNvPr id="28" name="Oval 27"/>
          <p:cNvSpPr/>
          <p:nvPr/>
        </p:nvSpPr>
        <p:spPr>
          <a:xfrm>
            <a:off x="9226296" y="1984248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97696" y="2651760"/>
            <a:ext cx="2633472" cy="27432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26296" y="28803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검증 · 마무리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356616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거래비용 · 민감도 분석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60/40 · 동일가중 비교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·  보고서 · 기말 발표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Malgun Gothic"/>
              </a:rPr>
              <a:t>※ 주차는 중간발표 이후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52CC"/>
                </a:solidFill>
                <a:latin typeface="Malgun Gothic"/>
              </a:rPr>
              <a:t>04  향후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51C2C"/>
                </a:solidFill>
                <a:latin typeface="Malgun Gothic"/>
              </a:rPr>
              <a:t>기말 목표 산출물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91672" cy="13716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Malgun Gothi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544068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실데이터 · LLM 연동 완성본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544068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45920"/>
            <a:ext cx="73152" cy="13716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라이브 데모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상시 접속 웹 주소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544068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73152" cy="13716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204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검증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5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백테스트 · 민감도 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246120"/>
            <a:ext cx="544068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246120"/>
            <a:ext cx="73152" cy="1371600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5204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51C2C"/>
                </a:solidFill>
                <a:latin typeface="Malgun Gothic"/>
              </a:rPr>
              <a:t>문서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02335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Malgun Gothic"/>
              </a:rPr>
              <a:t>최종 보고서 · 코드 리뷰 가이드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0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