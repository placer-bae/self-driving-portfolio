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93C5FD"/>
                </a:solidFill>
                <a:latin typeface="Malgun Gothic"/>
              </a:rPr>
              <a:t>중간발표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</a:rPr>
              <a:t>The Self-Driving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2E8F0"/>
                </a:solidFill>
                <a:latin typeface="Malgun Gothic"/>
              </a:rPr>
              <a:t>투자위원회 의사결정 지원을 위한 AI Co-Pilot (Decision Support System)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069080"/>
            <a:ext cx="1097280" cy="27432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algun Gothic"/>
              </a:rPr>
              <a:t>Base Paper  |  Andrew Ang, Nazym Azimbayev, Andrey Kim (2026)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3C5FD"/>
                </a:solidFill>
                <a:latin typeface="Malgun Gothic"/>
              </a:rPr>
              <a:t>Live Demo   |  self-driving-portfolio.onrender.com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52CC"/>
                </a:solidFill>
                <a:latin typeface="Malgun Gothic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1371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Malgun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737360"/>
            <a:ext cx="1097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0052CC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7830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51C2C"/>
                </a:solidFill>
                <a:latin typeface="Malgun Gothic"/>
              </a:rPr>
              <a:t>논문 배경 및 포지셔닝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2860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algun Gothic"/>
              </a:rPr>
              <a:t>기관 SAA 구조적 한계 · 6단계 파이프라인 · AI Co-Pilot 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743200"/>
            <a:ext cx="8686800" cy="9144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880360"/>
            <a:ext cx="1097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0052CC"/>
                </a:solidFill>
                <a:latin typeface="Malgun 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926079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51C2C"/>
                </a:solidFill>
                <a:latin typeface="Malgun Gothic"/>
              </a:rPr>
              <a:t>주제 선정 이유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4290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algun Gothic"/>
              </a:rPr>
              <a:t>시의성 · 실무 거버넌스 부합성 · 구현 및 검증 가능성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3886200"/>
            <a:ext cx="8686800" cy="9144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1097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0052CC"/>
                </a:solidFill>
                <a:latin typeface="Malgun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0690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51C2C"/>
                </a:solidFill>
                <a:latin typeface="Malgun Gothic"/>
              </a:rPr>
              <a:t>웹 시스템 구현 및 실화면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5720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algun Gothic"/>
              </a:rPr>
              <a:t>159개월 실데이터 · 21개 모델 후보군 · 4대 실화면 심층 분석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5029200"/>
            <a:ext cx="8686800" cy="9144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66360"/>
            <a:ext cx="1097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0052CC"/>
                </a:solidFill>
                <a:latin typeface="Malgun Gothic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52120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51C2C"/>
                </a:solidFill>
                <a:latin typeface="Malgun Gothic"/>
              </a:rPr>
              <a:t>중간 성과 및 향후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57150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algun Gothic"/>
              </a:rPr>
              <a:t>타깃 변동성 매칭(Vol Scaling) · 실무 제약조건 · 기말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52CC"/>
                </a:solidFill>
                <a:latin typeface="Malgun Gothic"/>
              </a:rPr>
              <a:t>01  논문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기관 SAA의 구조적 한계 및 Co-Pilot 필요성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1371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Malgun Gothic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633472" cy="31089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B91C1C"/>
                </a:solidFill>
                <a:latin typeface="Malgun Gothic"/>
              </a:rPr>
              <a:t>연 1회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1C2C"/>
                </a:solidFill>
                <a:latin typeface="Malgun Gothic"/>
              </a:rPr>
              <a:t>경직된 주기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2240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시장 국면 변화 대응 지연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형식적 재검토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645920"/>
            <a:ext cx="2633472" cy="31089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874519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B91C1C"/>
                </a:solidFill>
                <a:latin typeface="Malgun Gothic"/>
              </a:rPr>
              <a:t>사일로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56032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1C2C"/>
                </a:solidFill>
                <a:latin typeface="Malgun Gothic"/>
              </a:rPr>
              <a:t>부서 간 단절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108960"/>
            <a:ext cx="2240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부서별 전제 불일치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수작업 취합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1645920"/>
            <a:ext cx="2633472" cy="31089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874519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B91C1C"/>
                </a:solidFill>
                <a:latin typeface="Malgun Gothic"/>
              </a:rPr>
              <a:t>사후 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256032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1C2C"/>
                </a:solidFill>
                <a:latin typeface="Malgun Gothic"/>
              </a:rPr>
              <a:t>리스크 통제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3108960"/>
            <a:ext cx="2240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확정 후 리스크 검토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수정 비용 과다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97696" y="1645920"/>
            <a:ext cx="2633472" cy="31089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296" y="1874519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B91C1C"/>
                </a:solidFill>
                <a:latin typeface="Malgun Gothic"/>
              </a:rPr>
              <a:t>기록 부재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296" y="256032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1C2C"/>
                </a:solidFill>
                <a:latin typeface="Malgun Gothic"/>
              </a:rPr>
              <a:t>감사 추적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6296" y="3108960"/>
            <a:ext cx="2240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조정 사유 불투명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재현 · 검증 곤란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074920"/>
            <a:ext cx="11091672" cy="96012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074920"/>
            <a:ext cx="105156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</a:rPr>
              <a:t>핵심 정의  →  인간 CIO 대체가 아닌, 투자위원회의 시나리오 분석 및 SAA 의사결정을 보좌하는 AI Co-Pilot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52CC"/>
                </a:solidFill>
                <a:latin typeface="Malgun Gothic"/>
              </a:rPr>
              <a:t>01  논문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6단계 에이전트 파이프라인 아키텍처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1371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Malgun Gothic"/>
              </a:rPr>
              <a:t>4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965960" cy="1188720"/>
          </a:xfrm>
          <a:prstGeom prst="homePlate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4173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918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51C2C"/>
                </a:solidFill>
                <a:latin typeface="Malgun Gothic"/>
              </a:rPr>
              <a:t>거시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033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0052CC"/>
                </a:solidFill>
                <a:latin typeface="Malgun Gothic"/>
              </a:rPr>
              <a:t>Macro 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690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Malgun Gothic"/>
              </a:rPr>
              <a:t>성장·물가 4분면 진단</a:t>
            </a:r>
          </a:p>
        </p:txBody>
      </p:sp>
      <p:sp>
        <p:nvSpPr>
          <p:cNvPr id="12" name="Chevron 11"/>
          <p:cNvSpPr/>
          <p:nvPr/>
        </p:nvSpPr>
        <p:spPr>
          <a:xfrm>
            <a:off x="2404872" y="1828800"/>
            <a:ext cx="1965960" cy="1188720"/>
          </a:xfrm>
          <a:prstGeom prst="chevron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24912" y="1828800"/>
            <a:ext cx="14173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4872" y="32918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51C2C"/>
                </a:solidFill>
                <a:latin typeface="Malgun Gothic"/>
              </a:rPr>
              <a:t>자산군 CMA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04872" y="37033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0052CC"/>
                </a:solidFill>
                <a:latin typeface="Malgun Gothic"/>
              </a:rPr>
              <a:t>CMA (18)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40690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Malgun Gothic"/>
              </a:rPr>
              <a:t>18개 자산 10년 예측</a:t>
            </a:r>
          </a:p>
        </p:txBody>
      </p:sp>
      <p:sp>
        <p:nvSpPr>
          <p:cNvPr id="17" name="Chevron 16"/>
          <p:cNvSpPr/>
          <p:nvPr/>
        </p:nvSpPr>
        <p:spPr>
          <a:xfrm>
            <a:off x="4261103" y="1828800"/>
            <a:ext cx="1965960" cy="1188720"/>
          </a:xfrm>
          <a:prstGeom prst="chevron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1143" y="1828800"/>
            <a:ext cx="14173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1103" y="32918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51C2C"/>
                </a:solidFill>
                <a:latin typeface="Malgun Gothic"/>
              </a:rPr>
              <a:t>공분산 행렬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1103" y="37033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0052CC"/>
                </a:solidFill>
                <a:latin typeface="Malgun Gothic"/>
              </a:rPr>
              <a:t>Covariance (1)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1103" y="40690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Malgun Gothic"/>
              </a:rPr>
              <a:t>Ledoit-Wolf / OAS 수축</a:t>
            </a:r>
          </a:p>
        </p:txBody>
      </p:sp>
      <p:sp>
        <p:nvSpPr>
          <p:cNvPr id="22" name="Chevron 21"/>
          <p:cNvSpPr/>
          <p:nvPr/>
        </p:nvSpPr>
        <p:spPr>
          <a:xfrm>
            <a:off x="6117336" y="1828800"/>
            <a:ext cx="1965960" cy="1188720"/>
          </a:xfrm>
          <a:prstGeom prst="chevron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5" y="1828800"/>
            <a:ext cx="14173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17336" y="32918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51C2C"/>
                </a:solidFill>
                <a:latin typeface="Malgun Gothic"/>
              </a:rPr>
              <a:t>포트폴리오 구성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17336" y="37033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0052CC"/>
                </a:solidFill>
                <a:latin typeface="Malgun Gothic"/>
              </a:rPr>
              <a:t>PC (21)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17336" y="40690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Malgun Gothic"/>
              </a:rPr>
              <a:t>4개 계열 21개 모델 경쟁</a:t>
            </a:r>
          </a:p>
        </p:txBody>
      </p:sp>
      <p:sp>
        <p:nvSpPr>
          <p:cNvPr id="27" name="Chevron 26"/>
          <p:cNvSpPr/>
          <p:nvPr/>
        </p:nvSpPr>
        <p:spPr>
          <a:xfrm>
            <a:off x="7973567" y="1828800"/>
            <a:ext cx="1965960" cy="1188720"/>
          </a:xfrm>
          <a:prstGeom prst="chevron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93607" y="1828800"/>
            <a:ext cx="14173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7" y="32918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51C2C"/>
                </a:solidFill>
                <a:latin typeface="Malgun Gothic"/>
              </a:rPr>
              <a:t>전략 심의 · 투표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3567" y="37033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0052CC"/>
                </a:solidFill>
                <a:latin typeface="Malgun Gothic"/>
              </a:rPr>
              <a:t>CRO + 21 심사역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73567" y="40690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Malgun Gothic"/>
              </a:rPr>
              <a:t>수정 보르다 카운트 투표</a:t>
            </a:r>
          </a:p>
        </p:txBody>
      </p:sp>
      <p:sp>
        <p:nvSpPr>
          <p:cNvPr id="32" name="Chevron 31"/>
          <p:cNvSpPr/>
          <p:nvPr/>
        </p:nvSpPr>
        <p:spPr>
          <a:xfrm>
            <a:off x="9829799" y="1828800"/>
            <a:ext cx="1965960" cy="1188720"/>
          </a:xfrm>
          <a:prstGeom prst="chevron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39" y="1828800"/>
            <a:ext cx="14173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799" y="32918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51C2C"/>
                </a:solidFill>
                <a:latin typeface="Malgun Gothic"/>
              </a:rPr>
              <a:t>최종 앙상블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9799" y="37033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0052CC"/>
                </a:solidFill>
                <a:latin typeface="Malgun Gothic"/>
              </a:rPr>
              <a:t>CIO (1)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799" y="40690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Malgun Gothic"/>
              </a:rPr>
              <a:t>역추적오차(TE) 결합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800600"/>
            <a:ext cx="3749039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005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4800600"/>
            <a:ext cx="374903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52CC"/>
                </a:solidFill>
                <a:latin typeface="Malgun Gothic"/>
              </a:rPr>
              <a:t>↺  CRO IPS 위반 시 4단계 재최적화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입력: 18개 ETF 실데이터 159개월 · 거시지표   |   출력: 최종 권고 비중 · 투자위원회 안건 메모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52CC"/>
                </a:solidFill>
                <a:latin typeface="Malgun Gothic"/>
              </a:rPr>
              <a:t>01  논문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기관 거버넌스를 위한 4대 설계 원칙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1371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Malgun Gothic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33472" cy="3566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52CC"/>
                </a:solidFill>
                <a:latin typeface="Malgun Gothi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전문화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004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52CC"/>
                </a:solidFill>
                <a:latin typeface="Malgun Gothic"/>
              </a:rPr>
              <a:t>Specialization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57600"/>
            <a:ext cx="548640" cy="18288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2194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475569"/>
                </a:solidFill>
                <a:latin typeface="Malgun Gothic"/>
              </a:rPr>
              <a:t>거시 · 자산군 · 최적화 · 리스크 에이전트 분업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64992" y="1737360"/>
            <a:ext cx="2633472" cy="35661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2011680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52CC"/>
                </a:solidFill>
                <a:latin typeface="Malgun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60604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도구 결정론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32004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52CC"/>
                </a:solidFill>
                <a:latin typeface="Malgun Gothic"/>
              </a:rPr>
              <a:t>Tool Determinism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93592" y="3657600"/>
            <a:ext cx="548640" cy="18288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3592" y="3840480"/>
            <a:ext cx="2194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475569"/>
                </a:solidFill>
                <a:latin typeface="Malgun Gothic"/>
              </a:rPr>
              <a:t>LLM = 정성 해석 · 위원회 토론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475569"/>
                </a:solidFill>
                <a:latin typeface="Malgun Gothic"/>
              </a:rPr>
              <a:t>Python = 수학 행렬 계산 (환각 0%)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1344" y="1737360"/>
            <a:ext cx="2633472" cy="3566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2011680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52CC"/>
                </a:solidFill>
                <a:latin typeface="Malgun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260604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적대적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2004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52CC"/>
                </a:solidFill>
                <a:latin typeface="Malgun Gothic"/>
              </a:rPr>
              <a:t>Adversarial Critique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9944" y="3657600"/>
            <a:ext cx="548640" cy="18288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840480"/>
            <a:ext cx="2194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475569"/>
                </a:solidFill>
                <a:latin typeface="Malgun Gothic"/>
              </a:rPr>
              <a:t>CRO 거부권(Veto) → IPS 미달 배제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97696" y="1737360"/>
            <a:ext cx="2633472" cy="3566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6296" y="2011680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52CC"/>
                </a:solidFill>
                <a:latin typeface="Malgun Gothi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296" y="260604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감사 추적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32004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52CC"/>
                </a:solidFill>
                <a:latin typeface="Malgun Gothic"/>
              </a:rPr>
              <a:t>Audit Trail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26296" y="3657600"/>
            <a:ext cx="548640" cy="18288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26296" y="3840480"/>
            <a:ext cx="2194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475569"/>
                </a:solidFill>
                <a:latin typeface="Malgun Gothic"/>
              </a:rPr>
              <a:t>보르다 투표 · 소수의견 · 심의 사유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1C2C"/>
                </a:solidFill>
                <a:latin typeface="Malgun Gothic"/>
              </a:rPr>
              <a:t>핵심  →  LLM 수치 환각 원천 차단 (Tool Determinism) + 투명한 이사회 감사 추적성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52CC"/>
                </a:solidFill>
                <a:latin typeface="Malgun Gothic"/>
              </a:rPr>
              <a:t>02  주제 선정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왜 이 논문인가: 학술 연구에서 실무 시스템으로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1371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Malgun Gothic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566160" cy="27432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3566160" cy="54864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47088"/>
            <a:ext cx="31638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51C2C"/>
                </a:solidFill>
                <a:latin typeface="Malgun Gothic"/>
              </a:rPr>
              <a:t>시의성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59152"/>
            <a:ext cx="3163824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Malgun Gothic"/>
              </a:rPr>
              <a:t>·  2026년 4월 최신 연구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Malgun Gothic"/>
              </a:rPr>
              <a:t>·  Agentic AI × 자산배분 접목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Malgun Gothic"/>
              </a:rPr>
              <a:t>·  기관 AI Co-Pilot 도입 선도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645920"/>
            <a:ext cx="3566160" cy="27432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645920"/>
            <a:ext cx="3566160" cy="54864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7" y="1847088"/>
            <a:ext cx="31638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51C2C"/>
                </a:solidFill>
                <a:latin typeface="Malgun Gothic"/>
              </a:rPr>
              <a:t>실무성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2359152"/>
            <a:ext cx="3163824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Malgun Gothic"/>
              </a:rPr>
              <a:t>·  연기금 실제 SAA/DAA 의사결정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Malgun Gothic"/>
              </a:rPr>
              <a:t>·  투자위원회 · IPS 거버넌스 완비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Malgun Gothic"/>
              </a:rPr>
              <a:t>·  수리 최적화와 정성 토론 결합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9" y="1645920"/>
            <a:ext cx="3566160" cy="27432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645920"/>
            <a:ext cx="3566160" cy="54864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1847088"/>
            <a:ext cx="31638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51C2C"/>
                </a:solidFill>
                <a:latin typeface="Malgun Gothic"/>
              </a:rPr>
              <a:t>구현 가능성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359152"/>
            <a:ext cx="3163824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Malgun Gothic"/>
              </a:rPr>
              <a:t>·  수학 공식 완비 (OAS · BL · CVaR)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Malgun Gothic"/>
              </a:rPr>
              <a:t>·  18개 ETF 실데이터 159개월 검증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Malgun Gothic"/>
              </a:rPr>
              <a:t>·  24/7 웹 시연으로 실효성 입증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46320"/>
            <a:ext cx="11091672" cy="82296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84632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</a:rPr>
              <a:t>목표  →  논문의 50개 에이전트 아키텍처를 실제 데이터 기반의 실동작 웹 플랫폼으로 재현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52CC"/>
                </a:solidFill>
                <a:latin typeface="Malgun Gothic"/>
              </a:rPr>
              <a:t>03  웹 시스템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시스템 아키텍처 및 기초데이터 체계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1371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Malgun Gothic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468880" cy="301752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2468880" cy="54864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38528"/>
            <a:ext cx="206654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51C2C"/>
                </a:solidFill>
                <a:latin typeface="Malgun Gothic"/>
              </a:rPr>
              <a:t>데이터 계층 (실데이터)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450591"/>
            <a:ext cx="2066544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야후 파이낸스 실데이터 159개월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(2013-07 ~ 2026-09 수정 총수익률)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18개 대표 ETF 유동성 대용치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FRED 실시간 거시지표 (성장·물가·금리)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92608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052CC"/>
                </a:solidFill>
                <a:latin typeface="Malgun Gothic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9856" y="1737360"/>
            <a:ext cx="2468880" cy="301752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9856" y="1737360"/>
            <a:ext cx="2468880" cy="54864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1938528"/>
            <a:ext cx="206654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51C2C"/>
                </a:solidFill>
                <a:latin typeface="Malgun Gothic"/>
              </a:rPr>
              <a:t>수리 엔진 (백엔드)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2450591"/>
            <a:ext cx="2066544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Python · FastAPI 프레임워크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NumPy · SciPy 결정론적 행렬 연산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Exhibit 5 4대 계열 21개 모델 최적화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OAS 공분산 수축 및 보르다 투표 집계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7024" y="292608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052CC"/>
                </a:solidFill>
                <a:latin typeface="Malgun Gothic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37360"/>
            <a:ext cx="2468880" cy="301752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91072" y="1737360"/>
            <a:ext cx="2468880" cy="54864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938528"/>
            <a:ext cx="206654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51C2C"/>
                </a:solidFill>
                <a:latin typeface="Malgun Gothic"/>
              </a:rPr>
              <a:t>대시보드 (프론트엔드)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450591"/>
            <a:ext cx="2066544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React 19 · TypeScript · Tailwind CSS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거버넌스 L3 상태 및 6단계 스테퍼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자산배분 탭 · 보르다 투표 · 진단 차트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IPS 파라미터 즉각 재실행 인터페이스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92608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052CC"/>
                </a:solidFill>
                <a:latin typeface="Malgun Gothic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737360"/>
            <a:ext cx="2468880" cy="301752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62288" y="1737360"/>
            <a:ext cx="2468880" cy="54864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63456" y="1938528"/>
            <a:ext cx="206654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51C2C"/>
                </a:solidFill>
                <a:latin typeface="Malgun Gothic"/>
              </a:rPr>
              <a:t>배포 및 인프라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450591"/>
            <a:ext cx="2066544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Docker 경량 멀티 스테이지 빌드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Render 클라우드 24/7 무중단 호스팅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GitHub Actions CI/CD 완전 자동화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반응형 웹 UI (데스크톱/모바일)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005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074920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0F172A"/>
                </a:solidFill>
                <a:latin typeface="Malgun Gothic"/>
              </a:rPr>
              <a:t>·  데이터 투명성: 상용 벤더가 아닌 야후 파이낸스 159개월 실데이터(18개 ETF)로 완전 공개 검증 가능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0F172A"/>
                </a:solidFill>
                <a:latin typeface="Malgun Gothic"/>
              </a:rPr>
              <a:t>·  Tool Determinism: 수치 연산은 100% 파이썬 코드가 전담하여 환각 0% 보장, LLM은 거버넌스 해설 전담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52CC"/>
                </a:solidFill>
                <a:latin typeface="Malgun Gothic"/>
              </a:rPr>
              <a:t>03  웹 시스템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메인 대시보드 및 핵심 거버넌스 지표 (실화면)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1371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Malgun Gothic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840480" cy="4572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3840480" cy="54864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343814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51C2C"/>
                </a:solidFill>
                <a:latin typeface="Malgun Gothic"/>
              </a:rPr>
              <a:t>거버넌스 L3 &amp; 핵심 성과 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76272"/>
            <a:ext cx="3438144" cy="376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거버넌스 L3: 투자위원회 지원 AI Co-Pilot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IPS 적격 심사: 21개 후보 중 2개만 최종 통과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예상 명목수익률: 5.75% (실질수익률 +3.3%)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사전 연간변동성: 8.85% (IPS [8~12%] 충족)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샤프 지수: 0.231 (vs 60/40 0.219 대비 우수)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예상 최대낙폭: -18.59% (60/40 -34.3% 대비 방어)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사전 트래킹 에러: 0.77% (IPS &lt; 6.0% 준수)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유효 자산수: 10.2개 (충분한 자산 다변화)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426464"/>
            <a:ext cx="7022592" cy="46451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dia_1791889036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463040"/>
            <a:ext cx="69494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52CC"/>
                </a:solidFill>
                <a:latin typeface="Malgun Gothic"/>
              </a:rPr>
              <a:t>03  웹 시스템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대자산군 배분 및 60/40 벤치마크 비교 (실화면)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1371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Malgun Gothic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840480" cy="4572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3840480" cy="54864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343814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51C2C"/>
                </a:solidFill>
                <a:latin typeface="Malgun Gothic"/>
              </a:rPr>
              <a:t>대자산군 배분 및 벤치마크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76272"/>
            <a:ext cx="3438144" cy="376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주식군 (Equity): 56.49% (대형·성장·가치·중소)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채권군 (Fixed Income): 40.71% (중기·단기·장기·회사채)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실물자산 (Real Assets): 1.65% (금·원자재·리츠)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현금 버퍼 (Cash): 1.17% (초단기국채 유동성)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거시 국면 대응: 스태그플레이션 방어 주식 언더웨이트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채권 듀레이션 분산 및 현금 확보로 완충력 강화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최대 낙폭(MDD): -34.3% → -18.59%로 대폭 개선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475569"/>
                </a:solidFill>
                <a:latin typeface="Malgun Gothic"/>
              </a:rPr>
              <a:t>·  사전 트래킹 에러: 0.77% (벤치마크 추종 균형)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426464"/>
            <a:ext cx="7022592" cy="46451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dia_17918890948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463040"/>
            <a:ext cx="69494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52CC"/>
                </a:solidFill>
                <a:latin typeface="Malgun Gothic"/>
              </a:rPr>
              <a:t>03  웹 시스템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18개 자산군별 최종 권고 비중 및 21개 후보군 (Exhibit 11)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1371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Malgun Gothic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840480" cy="4572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3840480" cy="54864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343814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51C2C"/>
                </a:solidFill>
                <a:latin typeface="Malgun Gothic"/>
              </a:rPr>
              <a:t>후보군 21개 모델 및 최종 비중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76272"/>
            <a:ext cx="3438144" cy="376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후보군: 논문 Exhibit 5 기반 4대 계열 21개 모델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· A: 휴리스틱 5 (60/40, 동일가중, 모멘텀 등)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· B: 수익률최적화 5 (MVO, 블랙-리터만 등)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· C: 위험구조화 5 (위험균형, 최소분산, 최대분산 등)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· D: 비전통 6 (TPA, 적대적분산, 최대엔트로피 등)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미국 대형주 (SPY): 28.56% (위험 기여 45.2%)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미국 중기국채 (IEF): 16.57% (포트폴리오 핵심 안전판)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스타일 주식 (VUG/VTV): 각 9.41% 균형 배분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단기/장기채 (SHY/TLT): 각 5.09% | 회사채: 5.09%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426464"/>
            <a:ext cx="7022592" cy="46451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dia_17918891063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463040"/>
            <a:ext cx="69494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52CC"/>
                </a:solidFill>
                <a:latin typeface="Malgun Gothic"/>
              </a:rPr>
              <a:t>03  웹 시스템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전략 심의: 수정 보르다 투표 및 IPS 적격 필터링 (Exhibit 9)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1371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Malgun Gothic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840480" cy="4572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3840480" cy="54864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343814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51C2C"/>
                </a:solidFill>
                <a:latin typeface="Malgun Gothic"/>
              </a:rPr>
              <a:t>전략 심의 및 적격 필터링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76272"/>
            <a:ext cx="3438144" cy="376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평가 점수: 동료 투표 55% + CRO 정량 점수 45%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상위 모델의 IPS 변동성 하한(8%) 미달 탈락: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· 1위 최대 분산 (2.7%), 2위 BL (6.9%), 3위 위험균형 (6.5%)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4위 TPA (변동성 8.3%), 6위 시총가중 (9.2%)만 통과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엄격한 IPS 거버넌스 시연 vs 우수 알파 모델 누락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기말 해결책: 타깃 변동성 매칭(Vol Scaling) 도입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적대적 분산 에이전트: 소수파 관점 및 편향 견제 기록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최종 앙상블: 적격 2개 모델 역추적오차(TE) 결합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426464"/>
            <a:ext cx="7022592" cy="46451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dia_1791889122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463040"/>
            <a:ext cx="69494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52CC"/>
                </a:solidFill>
                <a:latin typeface="Malgun Gothic"/>
              </a:rPr>
              <a:t>04 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현재 이슈 및 선배 피드백 반영 검토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1371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Malgun Gothic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633472" cy="40233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263347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47088"/>
            <a:ext cx="22311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1C2C"/>
                </a:solidFill>
                <a:latin typeface="Malgun Gothic"/>
              </a:rPr>
              <a:t>타깃 변동성 매칭
(Vol Scaling)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59152"/>
            <a:ext cx="2231136" cy="3218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문제점: BL·위험균형 등 우수 모델의 변동성 하한(8%) 미달 탈락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개선안: 현금/레버리지 조절로 목표 변동성(8~12%) 스케일링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기대효과: 우수 알파 모델 복원 및 앙상블 다변화 극대화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645920"/>
            <a:ext cx="2633472" cy="40233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645920"/>
            <a:ext cx="263347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847088"/>
            <a:ext cx="22311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1C2C"/>
                </a:solidFill>
                <a:latin typeface="Malgun Gothic"/>
              </a:rPr>
              <a:t>실무 제약조건 추가
(Turnover &amp; Cost)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359152"/>
            <a:ext cx="2231136" cy="3218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문제점: 정적 자산배분 가정으로 리밸런싱 마찰비용 미반영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개선안: 연간 회전율(Turnover) 상한 및 슬리피지·수수료 모델링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기대효과: 거래비용 차감 순수익률(Net Return) 기반 실무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1645920"/>
            <a:ext cx="2633472" cy="40233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45920"/>
            <a:ext cx="263347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1847088"/>
            <a:ext cx="22311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1C2C"/>
                </a:solidFill>
                <a:latin typeface="Malgun Gothic"/>
              </a:rPr>
              <a:t>원/달러 환헤지
(FX Hedge) 모듈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2359152"/>
            <a:ext cx="2231136" cy="3218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문제점: 해외 ETF(미 달러) 100% 노출에 따른 환율 위험 미통제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개선안: 국내 연기금 가이드라인 기반 환헤지 비율(0~100%) 반영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기대효과: 환변동성 리스크 버퍼 구축 및 국내 기관 정합성 확보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97696" y="1645920"/>
            <a:ext cx="2633472" cy="40233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97696" y="1645920"/>
            <a:ext cx="263347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8864" y="1847088"/>
            <a:ext cx="22311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1C2C"/>
                </a:solidFill>
                <a:latin typeface="Malgun Gothic"/>
              </a:rPr>
              <a:t>AI Co-Pilot 거버넌스
포지셔닝 확립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864" y="2359152"/>
            <a:ext cx="2231136" cy="3218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문제점: 완전 자율 운용으로 오인 시 연기금 수탁자 책임 저촉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개선안: 투자위원회 시나리오 분석 및 SAA 의사결정 보좌 DSS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algun Gothic"/>
              </a:rPr>
              <a:t>·  기대효과: 인간 위원회와 협업하는 현실적 거버넌스 모델 확립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52CC"/>
                </a:solidFill>
                <a:latin typeface="Malgun Gothic"/>
              </a:rPr>
              <a:t>04 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선배 피드백을 반영한 기말 로드맵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1371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Malgun Gothic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10607040" cy="3657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52CC"/>
                </a:solidFill>
                <a:latin typeface="Malgun Gothic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19" y="146304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1C2C"/>
                </a:solidFill>
                <a:latin typeface="Malgun Gothic"/>
              </a:rPr>
              <a:t>1~2주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1984248"/>
            <a:ext cx="365760" cy="365760"/>
          </a:xfrm>
          <a:prstGeom prst="ellipse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51760"/>
            <a:ext cx="2633472" cy="29260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5292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51C2C"/>
                </a:solidFill>
                <a:latin typeface="Malgun Gothic"/>
              </a:rPr>
              <a:t>변동성 매칭 &amp; 모델 고도화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2240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타깃 변동성 매칭(Vol Scaling) 구현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블랙-리터만 · 위험균형 모델 적격 통과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21개 최적화 모델 파이프라인 수치 안정화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15087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52CC"/>
                </a:solidFill>
                <a:latin typeface="Malgun Gothic"/>
              </a:rP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146304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1C2C"/>
                </a:solidFill>
                <a:latin typeface="Malgun Gothic"/>
              </a:rPr>
              <a:t>3~4주</a:t>
            </a:r>
          </a:p>
        </p:txBody>
      </p:sp>
      <p:sp>
        <p:nvSpPr>
          <p:cNvPr id="16" name="Oval 15"/>
          <p:cNvSpPr/>
          <p:nvPr/>
        </p:nvSpPr>
        <p:spPr>
          <a:xfrm>
            <a:off x="3593592" y="1984248"/>
            <a:ext cx="365760" cy="365760"/>
          </a:xfrm>
          <a:prstGeom prst="ellipse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4992" y="2651760"/>
            <a:ext cx="2633472" cy="29260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3592" y="285292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51C2C"/>
                </a:solidFill>
                <a:latin typeface="Malgun Gothic"/>
              </a:rPr>
              <a:t>기관 실무 제약조건 반영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2" y="3474720"/>
            <a:ext cx="2240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원/달러 환헤지(FX Hedge) 룰 엔진 개발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회전율(Turnover) 제약식 및 거래비용 반영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FRED 거시지표 API 실시간 동기화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15087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52CC"/>
                </a:solidFill>
                <a:latin typeface="Malgun Gothic"/>
              </a:rPr>
              <a:t>Phase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146304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1C2C"/>
                </a:solidFill>
                <a:latin typeface="Malgun Gothic"/>
              </a:rPr>
              <a:t>5~6주</a:t>
            </a:r>
          </a:p>
        </p:txBody>
      </p:sp>
      <p:sp>
        <p:nvSpPr>
          <p:cNvPr id="22" name="Oval 21"/>
          <p:cNvSpPr/>
          <p:nvPr/>
        </p:nvSpPr>
        <p:spPr>
          <a:xfrm>
            <a:off x="6409944" y="1984248"/>
            <a:ext cx="365760" cy="365760"/>
          </a:xfrm>
          <a:prstGeom prst="ellipse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1344" y="2651760"/>
            <a:ext cx="2633472" cy="29260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285292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51C2C"/>
                </a:solidFill>
                <a:latin typeface="Malgun Gothic"/>
              </a:rPr>
              <a:t>LLM Co-Pilot 실연동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474720"/>
            <a:ext cx="2240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거시 · CIO 실 LLM API(Gemini/Claude) 연동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투자위원회 안건 및 시나리오 메모 자동 생성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인간 위원회-AI Co-Pilot 협업 워크플로우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15087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52CC"/>
                </a:solidFill>
                <a:latin typeface="Malgun Gothic"/>
              </a:rPr>
              <a:t>Phase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94976" y="146304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1C2C"/>
                </a:solidFill>
                <a:latin typeface="Malgun Gothic"/>
              </a:rPr>
              <a:t>7~8주</a:t>
            </a:r>
          </a:p>
        </p:txBody>
      </p:sp>
      <p:sp>
        <p:nvSpPr>
          <p:cNvPr id="28" name="Oval 27"/>
          <p:cNvSpPr/>
          <p:nvPr/>
        </p:nvSpPr>
        <p:spPr>
          <a:xfrm>
            <a:off x="9226296" y="1984248"/>
            <a:ext cx="365760" cy="365760"/>
          </a:xfrm>
          <a:prstGeom prst="ellipse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97696" y="2651760"/>
            <a:ext cx="2633472" cy="29260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26296" y="285292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51C2C"/>
                </a:solidFill>
                <a:latin typeface="Malgun Gothic"/>
              </a:rPr>
              <a:t>실증 백테스트 &amp; 최종 보고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6296" y="3474720"/>
            <a:ext cx="2240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거래비용 반영 순수익률 다구간 백테스트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60/40 및 단일 모델 대비 샤프·MDD 심층 비교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Malgun Gothic"/>
              </a:rPr>
              <a:t>·  기말 종합 보고서 및 최종 시연 발표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Malgun Gothic"/>
              </a:rPr>
              <a:t>※ 선배 피드백 3대 권고사항(Vol Scaling, 기관 제약조건, Co-Pilot 확립)을 일정 전반에 전면 반영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52CC"/>
                </a:solidFill>
                <a:latin typeface="Malgun Gothic"/>
              </a:rPr>
              <a:t>04 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51C2C"/>
                </a:solidFill>
                <a:latin typeface="Malgun Gothic"/>
              </a:rPr>
              <a:t>기말 목표 산출물 및 결언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13716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Malgun Gothic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44068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73152" cy="1371600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51C2C"/>
                </a:solidFill>
                <a:latin typeface="Malgun Gothic"/>
              </a:rPr>
              <a:t>투자위원회 지원 AI Co-Pilot 웹 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Malgun Gothic"/>
              </a:rPr>
              <a:t>인간 CIO 의사결정을 보좌하는 L3 수준 자율 SAA/DAA 플랫폼 완성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45920"/>
            <a:ext cx="544068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645920"/>
            <a:ext cx="73152" cy="1371600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9019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51C2C"/>
                </a:solidFill>
                <a:latin typeface="Malgun Gothic"/>
              </a:rPr>
              <a:t>환헤지 · 거래비용 반영 기관급 수리 엔진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42316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Malgun Gothic"/>
              </a:rPr>
              <a:t>21개 모델 수리 최적화 + Vol Scaling + 회전율/비용 제약 완비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46120"/>
            <a:ext cx="544068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46120"/>
            <a:ext cx="73152" cy="1371600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02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51C2C"/>
                </a:solidFill>
                <a:latin typeface="Malgun Gothic"/>
              </a:rPr>
              <a:t>24/7 글로벌 라이브 데모 &amp;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023359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Malgun Gothic"/>
              </a:rPr>
              <a:t>Render 클라우드 상시 운영 및 외부 연동 API 문서화 (onrender.com)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246120"/>
            <a:ext cx="544068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246120"/>
            <a:ext cx="73152" cy="1371600"/>
          </a:xfrm>
          <a:prstGeom prst="rect">
            <a:avLst/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3502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51C2C"/>
                </a:solidFill>
                <a:latin typeface="Malgun Gothic"/>
              </a:rPr>
              <a:t>국면별 실증 분석 보고서 및 오픈소스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023359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475569"/>
                </a:solidFill>
                <a:latin typeface="Malgun Gothic"/>
              </a:rPr>
              <a:t>장기 백테스트 실증 성과 입증 및 GitHub 완전 오픈소스 가이드 제공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120640"/>
            <a:ext cx="11091672" cy="100584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120640"/>
            <a:ext cx="1109167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